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w4-deck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w4-deck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0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ca825a334a81a5b6.jpg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8d10518d1b519aa2.png"/>
  <Relationship Id="rId3" Type="http://schemas.openxmlformats.org/officeDocument/2006/relationships/image" Target="../media/image_dbd5fe6b81a4937b.png"/>
  <Relationship Id="rId4" Type="http://schemas.openxmlformats.org/officeDocument/2006/relationships/image" Target="../media/image_859acd489db57bb2.png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fc0c01c258cda060.png"/>
  <Relationship Id="rId3" Type="http://schemas.openxmlformats.org/officeDocument/2006/relationships/image" Target="../media/image_5fb6d407e0cb18ff.png"/>
  <Relationship Id="rId4" Type="http://schemas.openxmlformats.org/officeDocument/2006/relationships/image" Target="../media/image_c30158e0a0597c85.png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19a499642f9075af.png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b85556711fa43678.png"/>
  <Relationship Id="rId3" Type="http://schemas.openxmlformats.org/officeDocument/2006/relationships/image" Target="../media/image_009929bd425b43f5.png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e011bc4724ac927f.png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d3f24c3f81b5746c.png"/>
  <Relationship Id="rId3" Type="http://schemas.openxmlformats.org/officeDocument/2006/relationships/image" Target="../media/image_43451e54d5d919db.png"/>
  <Relationship Id="rId4" Type="http://schemas.openxmlformats.org/officeDocument/2006/relationships/image" Target="../media/image_1b8b2279c4481669.png"/>
  <Relationship Id="rId5" Type="http://schemas.openxmlformats.org/officeDocument/2006/relationships/image" Target="../media/image_0bbf1e8525476239.png"/>
  <Relationship Id="rId6" Type="http://schemas.openxmlformats.org/officeDocument/2006/relationships/image" Target="../media/image_ed305f6b99aa29f3.png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3b805648994e14cc.png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ca3851c50e3fbf72.png"/>
  <Relationship Id="rId3" Type="http://schemas.openxmlformats.org/officeDocument/2006/relationships/image" Target="../media/image_88db653fdcd6f6d6.png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9a232d8413bc6809.png"/>
  <Relationship Id="rId3" Type="http://schemas.openxmlformats.org/officeDocument/2006/relationships/image" Target="../media/image_fb2a1ca2c2fb8080.png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5660e205d16a43d7.png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art-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art-scrim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>
              <a:alpha val="30000"/>
            </a:schemeClr>
          </a:solidFill>
          <a:ln>
            <a:noFill/>
          </a:ln>
        </p:spPr>
      </p:sp>
      <p:grpSp>
        <p:nvGrpSpPr>
          <p:cNvPr id="5" name="cover-mark"/>
          <p:cNvGrpSpPr/>
          <p:nvPr/>
        </p:nvGrpSpPr>
        <p:grpSpPr>
          <a:xfrm>
            <a:off x="838200" y="838200"/>
            <a:ext cx="533400" cy="533400"/>
            <a:chOff x="838200" y="838200"/>
            <a:chExt cx="533400" cy="533400"/>
          </a:xfrm>
        </p:grpSpPr>
        <p:sp>
          <p:nvSpPr>
            <p:cNvPr id="4" name="Rectangle 4"/>
            <p:cNvSpPr/>
            <p:nvPr/>
          </p:nvSpPr>
          <p:spPr>
            <a:xfrm>
              <a:off x="838200" y="838200"/>
              <a:ext cx="533400" cy="533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15" name="cover-spine"/>
          <p:cNvGrpSpPr/>
          <p:nvPr/>
        </p:nvGrpSpPr>
        <p:grpSpPr>
          <a:xfrm>
            <a:off x="9563100" y="914400"/>
            <a:ext cx="1790700" cy="3667125"/>
            <a:chOff x="9563100" y="914400"/>
            <a:chExt cx="1790700" cy="3667125"/>
          </a:xfrm>
        </p:grpSpPr>
        <p:sp>
          <p:nvSpPr>
            <p:cNvPr id="6" name="Line 6"/>
            <p:cNvSpPr/>
            <p:nvPr/>
          </p:nvSpPr>
          <p:spPr>
            <a:xfrm>
              <a:off x="9563100" y="914400"/>
              <a:ext cx="1790700" cy="9525"/>
            </a:xfrm>
            <a:custGeom>
              <a:avLst/>
              <a:gdLst/>
              <a:ahLst/>
              <a:cxnLst/>
              <a:rect l="l" t="t" r="r" b="b"/>
              <a:pathLst>
                <a:path w="1790700" h="9525">
                  <a:moveTo>
                    <a:pt x="0" y="0"/>
                  </a:moveTo>
                  <a:lnTo>
                    <a:pt x="1790700" y="0"/>
                  </a:lnTo>
                </a:path>
              </a:pathLst>
            </a:custGeom>
            <a:noFill/>
            <a:ln w="9525">
              <a:solidFill>
                <a:srgbClr val="3A424C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9563100" y="1371600"/>
              <a:ext cx="1790700" cy="9525"/>
            </a:xfrm>
            <a:custGeom>
              <a:avLst/>
              <a:gdLst/>
              <a:ahLst/>
              <a:cxnLst/>
              <a:rect l="l" t="t" r="r" b="b"/>
              <a:pathLst>
                <a:path w="1790700" h="9525">
                  <a:moveTo>
                    <a:pt x="0" y="0"/>
                  </a:moveTo>
                  <a:lnTo>
                    <a:pt x="1790700" y="0"/>
                  </a:lnTo>
                </a:path>
              </a:pathLst>
            </a:custGeom>
            <a:noFill/>
            <a:ln w="9525">
              <a:solidFill>
                <a:srgbClr val="3A424C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9563100" y="1828800"/>
              <a:ext cx="1790700" cy="9525"/>
            </a:xfrm>
            <a:custGeom>
              <a:avLst/>
              <a:gdLst/>
              <a:ahLst/>
              <a:cxnLst/>
              <a:rect l="l" t="t" r="r" b="b"/>
              <a:pathLst>
                <a:path w="1790700" h="9525">
                  <a:moveTo>
                    <a:pt x="0" y="0"/>
                  </a:moveTo>
                  <a:lnTo>
                    <a:pt x="1790700" y="0"/>
                  </a:lnTo>
                </a:path>
              </a:pathLst>
            </a:custGeom>
            <a:noFill/>
            <a:ln w="9525">
              <a:solidFill>
                <a:srgbClr val="3A424C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9563100" y="2286000"/>
              <a:ext cx="1790700" cy="9525"/>
            </a:xfrm>
            <a:custGeom>
              <a:avLst/>
              <a:gdLst/>
              <a:ahLst/>
              <a:cxnLst/>
              <a:rect l="l" t="t" r="r" b="b"/>
              <a:pathLst>
                <a:path w="1790700" h="9525">
                  <a:moveTo>
                    <a:pt x="0" y="0"/>
                  </a:moveTo>
                  <a:lnTo>
                    <a:pt x="1790700" y="0"/>
                  </a:lnTo>
                </a:path>
              </a:pathLst>
            </a:custGeom>
            <a:noFill/>
            <a:ln w="9525">
              <a:solidFill>
                <a:srgbClr val="3A424C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9563100" y="2743200"/>
              <a:ext cx="1790700" cy="9525"/>
            </a:xfrm>
            <a:custGeom>
              <a:avLst/>
              <a:gdLst/>
              <a:ahLst/>
              <a:cxnLst/>
              <a:rect l="l" t="t" r="r" b="b"/>
              <a:pathLst>
                <a:path w="1790700" h="9525">
                  <a:moveTo>
                    <a:pt x="0" y="0"/>
                  </a:moveTo>
                  <a:lnTo>
                    <a:pt x="1790700" y="0"/>
                  </a:lnTo>
                </a:path>
              </a:pathLst>
            </a:custGeom>
            <a:noFill/>
            <a:ln w="9525">
              <a:solidFill>
                <a:srgbClr val="3A424C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9563100" y="3200400"/>
              <a:ext cx="1790700" cy="9525"/>
            </a:xfrm>
            <a:custGeom>
              <a:avLst/>
              <a:gdLst/>
              <a:ahLst/>
              <a:cxnLst/>
              <a:rect l="l" t="t" r="r" b="b"/>
              <a:pathLst>
                <a:path w="1790700" h="9525">
                  <a:moveTo>
                    <a:pt x="0" y="0"/>
                  </a:moveTo>
                  <a:lnTo>
                    <a:pt x="1790700" y="0"/>
                  </a:lnTo>
                </a:path>
              </a:pathLst>
            </a:custGeom>
            <a:noFill/>
            <a:ln w="9525">
              <a:solidFill>
                <a:srgbClr val="3A424C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9563100" y="3657600"/>
              <a:ext cx="1790700" cy="9525"/>
            </a:xfrm>
            <a:custGeom>
              <a:avLst/>
              <a:gdLst/>
              <a:ahLst/>
              <a:cxnLst/>
              <a:rect l="l" t="t" r="r" b="b"/>
              <a:pathLst>
                <a:path w="1790700" h="9525">
                  <a:moveTo>
                    <a:pt x="0" y="0"/>
                  </a:moveTo>
                  <a:lnTo>
                    <a:pt x="1790700" y="0"/>
                  </a:lnTo>
                </a:path>
              </a:pathLst>
            </a:custGeom>
            <a:noFill/>
            <a:ln w="9525">
              <a:solidFill>
                <a:srgbClr val="3A424C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9563100" y="4114800"/>
              <a:ext cx="1790700" cy="9525"/>
            </a:xfrm>
            <a:custGeom>
              <a:avLst/>
              <a:gdLst/>
              <a:ahLst/>
              <a:cxnLst/>
              <a:rect l="l" t="t" r="r" b="b"/>
              <a:pathLst>
                <a:path w="1790700" h="9525">
                  <a:moveTo>
                    <a:pt x="0" y="0"/>
                  </a:moveTo>
                  <a:lnTo>
                    <a:pt x="1790700" y="0"/>
                  </a:lnTo>
                </a:path>
              </a:pathLst>
            </a:custGeom>
            <a:noFill/>
            <a:ln w="9525">
              <a:solidFill>
                <a:srgbClr val="3A424C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9563100" y="4572000"/>
              <a:ext cx="1790700" cy="9525"/>
            </a:xfrm>
            <a:custGeom>
              <a:avLst/>
              <a:gdLst/>
              <a:ahLst/>
              <a:cxnLst/>
              <a:rect l="l" t="t" r="r" b="b"/>
              <a:pathLst>
                <a:path w="1790700" h="9525">
                  <a:moveTo>
                    <a:pt x="0" y="0"/>
                  </a:moveTo>
                  <a:lnTo>
                    <a:pt x="1790700" y="0"/>
                  </a:lnTo>
                </a:path>
              </a:pathLst>
            </a:custGeom>
            <a:noFill/>
            <a:ln w="9525">
              <a:solidFill>
                <a:schemeClr val="accent2"/>
              </a:solidFill>
            </a:ln>
          </p:spPr>
        </p:sp>
      </p:grpSp>
      <p:grpSp>
        <p:nvGrpSpPr>
          <p:cNvPr id="17" name="cover-title"/>
          <p:cNvGrpSpPr/>
          <p:nvPr/>
        </p:nvGrpSpPr>
        <p:grpSpPr>
          <a:xfrm>
            <a:off x="819150" y="2558415"/>
            <a:ext cx="6372225" cy="2286000"/>
            <a:chOff x="819150" y="2558415"/>
            <a:chExt cx="6372225" cy="2286000"/>
          </a:xfrm>
        </p:grpSpPr>
        <p:sp>
          <p:nvSpPr>
            <p:cNvPr id="16" name="TextBox 16"/>
            <p:cNvSpPr txBox="1"/>
            <p:nvPr/>
          </p:nvSpPr>
          <p:spPr>
            <a:xfrm>
              <a:off x="819150" y="2558415"/>
              <a:ext cx="6372225" cy="2286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8400"/>
                </a:lnSpc>
              </a:pPr>
              <a:r>
                <a:rPr lang="zh-CN" sz="6300" b="1" spc="-75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信贷违约预测模型</a:t>
              </a:r>
              <a:br/>
              <a:r>
                <a:rPr lang="zh-CN" sz="6300" b="1" spc="-75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与放贷审批线设计</a:t>
              </a:r>
            </a:p>
          </p:txBody>
        </p:sp>
      </p:grpSp>
      <p:grpSp>
        <p:nvGrpSpPr>
          <p:cNvPr id="23" name="cover-meta"/>
          <p:cNvGrpSpPr/>
          <p:nvPr/>
        </p:nvGrpSpPr>
        <p:grpSpPr>
          <a:xfrm>
            <a:off x="827532" y="4802505"/>
            <a:ext cx="10533126" cy="1526096"/>
            <a:chOff x="827532" y="4802505"/>
            <a:chExt cx="10533126" cy="1526096"/>
          </a:xfrm>
        </p:grpSpPr>
        <p:sp>
          <p:nvSpPr>
            <p:cNvPr id="18" name="TextBox 18"/>
            <p:cNvSpPr txBox="1"/>
            <p:nvPr/>
          </p:nvSpPr>
          <p:spPr>
            <a:xfrm>
              <a:off x="827532" y="4802505"/>
              <a:ext cx="478779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阿里线上数据分析实习 · W1–W4 汇总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29056" y="5330190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基于阿里天池信贷违约数据集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838200" y="5829300"/>
              <a:ext cx="10515600" cy="9525"/>
            </a:xfrm>
            <a:custGeom>
              <a:avLst/>
              <a:gdLst/>
              <a:ahLst/>
              <a:cxnLst/>
              <a:rect l="l" t="t" r="r" b="b"/>
              <a:pathLst>
                <a:path w="10515600" h="9525">
                  <a:moveTo>
                    <a:pt x="0" y="0"/>
                  </a:moveTo>
                  <a:lnTo>
                    <a:pt x="10515600" y="0"/>
                  </a:lnTo>
                </a:path>
              </a:pathLst>
            </a:custGeom>
            <a:noFill/>
            <a:ln w="9525">
              <a:solidFill>
                <a:srgbClr val="3A424C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31342" y="6064568"/>
              <a:ext cx="32758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汇报人：王子安 / 交付日期 2026-09-28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703115" y="6064568"/>
              <a:ext cx="36575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金额口径中净息差 6%、回收率 30% 为模拟值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670560" y="819150"/>
            <a:ext cx="10835640" cy="638175"/>
            <a:chOff x="670560" y="819150"/>
            <a:chExt cx="10835640" cy="638175"/>
          </a:xfrm>
        </p:grpSpPr>
        <p:sp>
          <p:nvSpPr>
            <p:cNvPr id="2" name="TextBox 2"/>
            <p:cNvSpPr txBox="1"/>
            <p:nvPr/>
          </p:nvSpPr>
          <p:spPr>
            <a:xfrm>
              <a:off x="670560" y="819150"/>
              <a:ext cx="6814251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spc="-38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交付目标：给出一条可执行的放贷方案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685800" y="14478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262C33"/>
              </a:solidFill>
            </a:ln>
          </p:spPr>
        </p:sp>
      </p:grpSp>
      <p:grpSp>
        <p:nvGrpSpPr>
          <p:cNvPr id="10" name="path-axis"/>
          <p:cNvGrpSpPr/>
          <p:nvPr/>
        </p:nvGrpSpPr>
        <p:grpSpPr>
          <a:xfrm>
            <a:off x="619125" y="2847975"/>
            <a:ext cx="10658475" cy="209550"/>
            <a:chOff x="619125" y="2847975"/>
            <a:chExt cx="10658475" cy="209550"/>
          </a:xfrm>
        </p:grpSpPr>
        <p:sp>
          <p:nvSpPr>
            <p:cNvPr id="5" name="Line 5"/>
            <p:cNvSpPr/>
            <p:nvPr/>
          </p:nvSpPr>
          <p:spPr>
            <a:xfrm>
              <a:off x="685800" y="2952750"/>
              <a:ext cx="10591800" cy="9525"/>
            </a:xfrm>
            <a:custGeom>
              <a:avLst/>
              <a:gdLst/>
              <a:ahLst/>
              <a:cxnLst/>
              <a:rect l="l" t="t" r="r" b="b"/>
              <a:pathLst>
                <a:path w="10591800" h="9525">
                  <a:moveTo>
                    <a:pt x="0" y="0"/>
                  </a:moveTo>
                  <a:lnTo>
                    <a:pt x="10591800" y="0"/>
                  </a:lnTo>
                </a:path>
              </a:pathLst>
            </a:custGeom>
            <a:noFill/>
            <a:ln w="9525">
              <a:solidFill>
                <a:srgbClr val="262C33"/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619125" y="2886075"/>
              <a:ext cx="133350" cy="1333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3324225" y="2886075"/>
              <a:ext cx="133350" cy="1333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6029325" y="2886075"/>
              <a:ext cx="133350" cy="1333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8696325" y="2847975"/>
              <a:ext cx="209550" cy="2095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14" name="week-1"/>
          <p:cNvGrpSpPr/>
          <p:nvPr/>
        </p:nvGrpSpPr>
        <p:grpSpPr>
          <a:xfrm>
            <a:off x="676656" y="3207068"/>
            <a:ext cx="1961960" cy="1387983"/>
            <a:chOff x="676656" y="3207068"/>
            <a:chExt cx="1961960" cy="1387983"/>
          </a:xfrm>
        </p:grpSpPr>
        <p:sp>
          <p:nvSpPr>
            <p:cNvPr id="11" name="TextBox 11"/>
            <p:cNvSpPr txBox="1"/>
            <p:nvPr/>
          </p:nvSpPr>
          <p:spPr>
            <a:xfrm>
              <a:off x="678942" y="3207068"/>
              <a:ext cx="2792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spc="112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W1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6656" y="35013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数据探索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8942" y="3873818"/>
              <a:ext cx="1959674" cy="7212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100 万笔贷款、47 个字段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标签为是否违约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违约样本约占两成</a:t>
              </a:r>
            </a:p>
          </p:txBody>
        </p:sp>
      </p:grpSp>
      <p:grpSp>
        <p:nvGrpSpPr>
          <p:cNvPr id="18" name="week-2"/>
          <p:cNvGrpSpPr/>
          <p:nvPr/>
        </p:nvGrpSpPr>
        <p:grpSpPr>
          <a:xfrm>
            <a:off x="3381756" y="3207068"/>
            <a:ext cx="1901952" cy="1387983"/>
            <a:chOff x="3381756" y="3207068"/>
            <a:chExt cx="1901952" cy="1387983"/>
          </a:xfrm>
        </p:grpSpPr>
        <p:sp>
          <p:nvSpPr>
            <p:cNvPr id="15" name="TextBox 15"/>
            <p:cNvSpPr txBox="1"/>
            <p:nvPr/>
          </p:nvSpPr>
          <p:spPr>
            <a:xfrm>
              <a:off x="3384042" y="3207068"/>
              <a:ext cx="2792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spc="112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W2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381756" y="35013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特征工程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384042" y="3873818"/>
              <a:ext cx="1899666" cy="7212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编码、变换、创建、选择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 38 个建模特征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参数只在训练集上拟合</a:t>
              </a:r>
            </a:p>
          </p:txBody>
        </p:sp>
      </p:grpSp>
      <p:grpSp>
        <p:nvGrpSpPr>
          <p:cNvPr id="22" name="week-3"/>
          <p:cNvGrpSpPr/>
          <p:nvPr/>
        </p:nvGrpSpPr>
        <p:grpSpPr>
          <a:xfrm>
            <a:off x="6086856" y="3207068"/>
            <a:ext cx="1559052" cy="1387983"/>
            <a:chOff x="6086856" y="3207068"/>
            <a:chExt cx="1559052" cy="1387983"/>
          </a:xfrm>
        </p:grpSpPr>
        <p:sp>
          <p:nvSpPr>
            <p:cNvPr id="19" name="TextBox 19"/>
            <p:cNvSpPr txBox="1"/>
            <p:nvPr/>
          </p:nvSpPr>
          <p:spPr>
            <a:xfrm>
              <a:off x="6089142" y="3207068"/>
              <a:ext cx="2792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spc="112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W3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086856" y="350139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建模与调优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089142" y="3873818"/>
              <a:ext cx="1556766" cy="7212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随机搜索定参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调参前后同口径对照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LightGBM 胜出</a:t>
              </a:r>
            </a:p>
          </p:txBody>
        </p:sp>
      </p:grpSp>
      <p:grpSp>
        <p:nvGrpSpPr>
          <p:cNvPr id="26" name="week-4"/>
          <p:cNvGrpSpPr/>
          <p:nvPr/>
        </p:nvGrpSpPr>
        <p:grpSpPr>
          <a:xfrm>
            <a:off x="8791956" y="3207068"/>
            <a:ext cx="1704784" cy="1387983"/>
            <a:chOff x="8791956" y="3207068"/>
            <a:chExt cx="1704784" cy="1387983"/>
          </a:xfrm>
        </p:grpSpPr>
        <p:sp>
          <p:nvSpPr>
            <p:cNvPr id="23" name="TextBox 23"/>
            <p:cNvSpPr txBox="1"/>
            <p:nvPr/>
          </p:nvSpPr>
          <p:spPr>
            <a:xfrm>
              <a:off x="8794242" y="3207068"/>
              <a:ext cx="2792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spc="112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W4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791956" y="35013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审批线与落地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794242" y="3873818"/>
              <a:ext cx="1702498" cy="7212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方案① 单线扫描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方案② 逐笔期望定线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方案② 执行：三段分工</a:t>
              </a:r>
            </a:p>
          </p:txBody>
        </p:sp>
      </p:grpSp>
      <p:grpSp>
        <p:nvGrpSpPr>
          <p:cNvPr id="29" name="page-footer"/>
          <p:cNvGrpSpPr/>
          <p:nvPr/>
        </p:nvGrpSpPr>
        <p:grpSpPr>
          <a:xfrm>
            <a:off x="678942" y="6045518"/>
            <a:ext cx="10834116" cy="264033"/>
            <a:chOff x="678942" y="6045518"/>
            <a:chExt cx="10834116" cy="264033"/>
          </a:xfrm>
        </p:grpSpPr>
        <p:sp>
          <p:nvSpPr>
            <p:cNvPr id="27" name="TextBox 27"/>
            <p:cNvSpPr txBox="1"/>
            <p:nvPr/>
          </p:nvSpPr>
          <p:spPr>
            <a:xfrm>
              <a:off x="678942" y="6045518"/>
              <a:ext cx="59383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口径：金额中净息差 6%、回收率 30% 为模拟值。来源：报告 2 节、10 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890523" y="60455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02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670560" y="819150"/>
            <a:ext cx="10835640" cy="638175"/>
            <a:chOff x="670560" y="819150"/>
            <a:chExt cx="10835640" cy="638175"/>
          </a:xfrm>
        </p:grpSpPr>
        <p:sp>
          <p:nvSpPr>
            <p:cNvPr id="2" name="TextBox 2"/>
            <p:cNvSpPr txBox="1"/>
            <p:nvPr/>
          </p:nvSpPr>
          <p:spPr>
            <a:xfrm>
              <a:off x="670560" y="819150"/>
              <a:ext cx="864687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spc="-38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数据与质量：脏值逐项闭合，79.8 万行进入建模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685800" y="14478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262C33"/>
              </a:solidFill>
            </a:ln>
          </p:spPr>
        </p:sp>
      </p:grpSp>
      <p:grpSp>
        <p:nvGrpSpPr>
          <p:cNvPr id="8" name="hero-rows"/>
          <p:cNvGrpSpPr/>
          <p:nvPr/>
        </p:nvGrpSpPr>
        <p:grpSpPr>
          <a:xfrm>
            <a:off x="666750" y="2082165"/>
            <a:ext cx="3942340" cy="1484186"/>
            <a:chOff x="666750" y="2082165"/>
            <a:chExt cx="3942340" cy="1484186"/>
          </a:xfrm>
        </p:grpSpPr>
        <p:sp>
          <p:nvSpPr>
            <p:cNvPr id="5" name="TextBox 5"/>
            <p:cNvSpPr txBox="1"/>
            <p:nvPr/>
          </p:nvSpPr>
          <p:spPr>
            <a:xfrm>
              <a:off x="666750" y="2082165"/>
              <a:ext cx="3405990" cy="1219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300" b="1" spc="-7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798,498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76656" y="298704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清洗后可用行数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78942" y="3302318"/>
              <a:ext cx="39301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原始 80 万行 × 47 字段，删 1,502 行（0.19%）</a:t>
              </a:r>
            </a:p>
          </p:txBody>
        </p:sp>
      </p:grpSp>
      <p:grpSp>
        <p:nvGrpSpPr>
          <p:cNvPr id="11" name="quality-missing"/>
          <p:cNvGrpSpPr/>
          <p:nvPr/>
        </p:nvGrpSpPr>
        <p:grpSpPr>
          <a:xfrm>
            <a:off x="676656" y="3710940"/>
            <a:ext cx="4493865" cy="846011"/>
            <a:chOff x="676656" y="3710940"/>
            <a:chExt cx="4493865" cy="846011"/>
          </a:xfrm>
        </p:grpSpPr>
        <p:sp>
          <p:nvSpPr>
            <p:cNvPr id="9" name="TextBox 9"/>
            <p:cNvSpPr txBox="1"/>
            <p:nvPr/>
          </p:nvSpPr>
          <p:spPr>
            <a:xfrm>
              <a:off x="676656" y="3710940"/>
              <a:ext cx="449386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缺失值：22 列有缺失，按量级分三种处理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78942" y="4045268"/>
              <a:ext cx="3914204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匿名 n0–n14 约 62 万格填中位数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就业年限 46,375 个填「未知」；6 列极少缺失删行</a:t>
              </a:r>
            </a:p>
          </p:txBody>
        </p:sp>
      </p:grpSp>
      <p:grpSp>
        <p:nvGrpSpPr>
          <p:cNvPr id="14" name="quality-outlier"/>
          <p:cNvGrpSpPr/>
          <p:nvPr/>
        </p:nvGrpSpPr>
        <p:grpSpPr>
          <a:xfrm>
            <a:off x="676656" y="4796790"/>
            <a:ext cx="4622292" cy="846011"/>
            <a:chOff x="676656" y="4796790"/>
            <a:chExt cx="4622292" cy="846011"/>
          </a:xfrm>
        </p:grpSpPr>
        <p:sp>
          <p:nvSpPr>
            <p:cNvPr id="12" name="TextBox 12"/>
            <p:cNvSpPr txBox="1"/>
            <p:nvPr/>
          </p:nvSpPr>
          <p:spPr>
            <a:xfrm>
              <a:off x="676656" y="4796790"/>
              <a:ext cx="46222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异常值：按业务规则定界，不按统计机械删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8942" y="5131118"/>
              <a:ext cx="3485578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年收入 = 0 共 229 个，全是联合申请的主借人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额度使用率 &gt; 100% 封顶；dti 越界删行</a:t>
              </a:r>
            </a:p>
          </p:txBody>
        </p:sp>
      </p:grpSp>
      <p:grpSp>
        <p:nvGrpSpPr>
          <p:cNvPr id="16" name="quality-consistency"/>
          <p:cNvGrpSpPr/>
          <p:nvPr/>
        </p:nvGrpSpPr>
        <p:grpSpPr>
          <a:xfrm>
            <a:off x="678942" y="5778818"/>
            <a:ext cx="4911528" cy="264033"/>
            <a:chOff x="678942" y="5778818"/>
            <a:chExt cx="4911528" cy="264033"/>
          </a:xfrm>
        </p:grpSpPr>
        <p:sp>
          <p:nvSpPr>
            <p:cNvPr id="15" name="TextBox 15"/>
            <p:cNvSpPr txBox="1"/>
            <p:nvPr/>
          </p:nvSpPr>
          <p:spPr>
            <a:xfrm>
              <a:off x="678942" y="5778818"/>
              <a:ext cx="49115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一致性：id 重复 0、fico 上下限倒挂 0；清洗后剩余缺失格 0</a:t>
              </a:r>
            </a:p>
          </p:txBody>
        </p:sp>
      </p:grpSp>
      <p:grpSp>
        <p:nvGrpSpPr>
          <p:cNvPr id="41" name="scope-table"/>
          <p:cNvGrpSpPr/>
          <p:nvPr/>
        </p:nvGrpSpPr>
        <p:grpSpPr>
          <a:xfrm>
            <a:off x="5324856" y="1911668"/>
            <a:ext cx="6181344" cy="2650807"/>
            <a:chOff x="5324856" y="1911668"/>
            <a:chExt cx="6181344" cy="2650807"/>
          </a:xfrm>
        </p:grpSpPr>
        <p:sp>
          <p:nvSpPr>
            <p:cNvPr id="17" name="TextBox 17"/>
            <p:cNvSpPr txBox="1"/>
            <p:nvPr/>
          </p:nvSpPr>
          <p:spPr>
            <a:xfrm>
              <a:off x="5327142" y="19116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子集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803642" y="19116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人数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232392" y="19116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用途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5334000" y="2209800"/>
              <a:ext cx="6172200" cy="9525"/>
            </a:xfrm>
            <a:custGeom>
              <a:avLst/>
              <a:gdLst/>
              <a:ahLst/>
              <a:cxnLst/>
              <a:rect l="l" t="t" r="r" b="b"/>
              <a:pathLst>
                <a:path w="6172200" h="9525">
                  <a:moveTo>
                    <a:pt x="0" y="0"/>
                  </a:moveTo>
                  <a:lnTo>
                    <a:pt x="61722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5334000" y="2724150"/>
              <a:ext cx="6172200" cy="9525"/>
            </a:xfrm>
            <a:custGeom>
              <a:avLst/>
              <a:gdLst/>
              <a:ahLst/>
              <a:cxnLst/>
              <a:rect l="l" t="t" r="r" b="b"/>
              <a:pathLst>
                <a:path w="6172200" h="9525">
                  <a:moveTo>
                    <a:pt x="0" y="0"/>
                  </a:moveTo>
                  <a:lnTo>
                    <a:pt x="6172200" y="0"/>
                  </a:lnTo>
                </a:path>
              </a:pathLst>
            </a:custGeom>
            <a:noFill/>
            <a:ln w="9525">
              <a:solidFill>
                <a:srgbClr val="262C33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5334000" y="3181350"/>
              <a:ext cx="6172200" cy="9525"/>
            </a:xfrm>
            <a:custGeom>
              <a:avLst/>
              <a:gdLst/>
              <a:ahLst/>
              <a:cxnLst/>
              <a:rect l="l" t="t" r="r" b="b"/>
              <a:pathLst>
                <a:path w="6172200" h="9525">
                  <a:moveTo>
                    <a:pt x="0" y="0"/>
                  </a:moveTo>
                  <a:lnTo>
                    <a:pt x="6172200" y="0"/>
                  </a:lnTo>
                </a:path>
              </a:pathLst>
            </a:custGeom>
            <a:noFill/>
            <a:ln w="9525">
              <a:solidFill>
                <a:srgbClr val="262C33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5334000" y="3638550"/>
              <a:ext cx="6172200" cy="9525"/>
            </a:xfrm>
            <a:custGeom>
              <a:avLst/>
              <a:gdLst/>
              <a:ahLst/>
              <a:cxnLst/>
              <a:rect l="l" t="t" r="r" b="b"/>
              <a:pathLst>
                <a:path w="6172200" h="9525">
                  <a:moveTo>
                    <a:pt x="0" y="0"/>
                  </a:moveTo>
                  <a:lnTo>
                    <a:pt x="6172200" y="0"/>
                  </a:lnTo>
                </a:path>
              </a:pathLst>
            </a:custGeom>
            <a:noFill/>
            <a:ln w="9525">
              <a:solidFill>
                <a:srgbClr val="262C33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5334000" y="4552950"/>
              <a:ext cx="6172200" cy="9525"/>
            </a:xfrm>
            <a:custGeom>
              <a:avLst/>
              <a:gdLst/>
              <a:ahLst/>
              <a:cxnLst/>
              <a:rect l="l" t="t" r="r" b="b"/>
              <a:pathLst>
                <a:path w="6172200" h="9525">
                  <a:moveTo>
                    <a:pt x="0" y="0"/>
                  </a:moveTo>
                  <a:lnTo>
                    <a:pt x="6172200" y="0"/>
                  </a:lnTo>
                </a:path>
              </a:pathLst>
            </a:custGeom>
            <a:noFill/>
            <a:ln w="9525">
              <a:solidFill>
                <a:srgbClr val="262C33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5334000" y="4095750"/>
              <a:ext cx="6172200" cy="9525"/>
            </a:xfrm>
            <a:custGeom>
              <a:avLst/>
              <a:gdLst/>
              <a:ahLst/>
              <a:cxnLst/>
              <a:rect l="l" t="t" r="r" b="b"/>
              <a:pathLst>
                <a:path w="6172200" h="9525">
                  <a:moveTo>
                    <a:pt x="0" y="0"/>
                  </a:moveTo>
                  <a:lnTo>
                    <a:pt x="61722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324856" y="23774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清洗后总量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801356" y="2377440"/>
              <a:ext cx="9512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798,498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232392" y="2426018"/>
              <a:ext cx="12949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7:2:1 分层切分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324856" y="283464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训练集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801356" y="2834640"/>
              <a:ext cx="9512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558,948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232392" y="28832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拟合模型参数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324856" y="329184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验证集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801356" y="3291840"/>
              <a:ext cx="9512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159,700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232392" y="33404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选择阈值与模型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324856" y="374904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测试集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801356" y="3749040"/>
              <a:ext cx="85791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79,850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232392" y="37976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全册成绩与金额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324856" y="4206240"/>
              <a:ext cx="69220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testA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801356" y="4206240"/>
              <a:ext cx="9512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200,000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232392" y="42548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无标签，不进本册</a:t>
              </a:r>
            </a:p>
          </p:txBody>
        </p:sp>
      </p:grpSp>
      <p:grpSp>
        <p:nvGrpSpPr>
          <p:cNvPr id="44" name="page-footer"/>
          <p:cNvGrpSpPr/>
          <p:nvPr/>
        </p:nvGrpSpPr>
        <p:grpSpPr>
          <a:xfrm>
            <a:off x="678942" y="6045518"/>
            <a:ext cx="10834116" cy="264033"/>
            <a:chOff x="678942" y="6045518"/>
            <a:chExt cx="10834116" cy="264033"/>
          </a:xfrm>
        </p:grpSpPr>
        <p:sp>
          <p:nvSpPr>
            <p:cNvPr id="42" name="TextBox 42"/>
            <p:cNvSpPr txBox="1"/>
            <p:nvPr/>
          </p:nvSpPr>
          <p:spPr>
            <a:xfrm>
              <a:off x="678942" y="6045518"/>
              <a:ext cx="75353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来源：报告 3.1–3.3 节；data/train_clean.csv、outputs/W1/data_quality_report.txt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890523" y="60455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03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670560" y="819150"/>
            <a:ext cx="10835640" cy="638175"/>
            <a:chOff x="670560" y="819150"/>
            <a:chExt cx="10835640" cy="638175"/>
          </a:xfrm>
        </p:grpSpPr>
        <p:sp>
          <p:nvSpPr>
            <p:cNvPr id="2" name="TextBox 2"/>
            <p:cNvSpPr txBox="1"/>
            <p:nvPr/>
          </p:nvSpPr>
          <p:spPr>
            <a:xfrm>
              <a:off x="670560" y="819150"/>
              <a:ext cx="7212995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spc="-38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数据探索：违约占两成，年收入严重右偏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685800" y="14478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262C33"/>
              </a:solidFill>
            </a:ln>
          </p:spPr>
        </p:sp>
      </p:grpSp>
      <p:grpSp>
        <p:nvGrpSpPr>
          <p:cNvPr id="8" name="chart-target"/>
          <p:cNvGrpSpPr/>
          <p:nvPr/>
        </p:nvGrpSpPr>
        <p:grpSpPr>
          <a:xfrm>
            <a:off x="676656" y="1676400"/>
            <a:ext cx="3457194" cy="2270951"/>
            <a:chOff x="676656" y="1676400"/>
            <a:chExt cx="3457194" cy="2270951"/>
          </a:xfrm>
        </p:grpSpPr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5800" y="1676400"/>
              <a:ext cx="3448050" cy="1333500"/>
            </a:xfrm>
            <a:prstGeom prst="rect">
              <a:avLst/>
            </a:prstGeom>
          </p:spPr>
        </p:pic>
        <p:sp>
          <p:nvSpPr>
            <p:cNvPr id="6" name="TextBox 6"/>
            <p:cNvSpPr txBox="1"/>
            <p:nvPr/>
          </p:nvSpPr>
          <p:spPr>
            <a:xfrm>
              <a:off x="676656" y="3101340"/>
              <a:ext cx="24529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图 4-1｜违约约占两成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78942" y="3435668"/>
              <a:ext cx="3279838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违约 159,287 人，占 19.95%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类别不平衡，准确率会骗人，改用 AUC、KS</a:t>
              </a:r>
            </a:p>
          </p:txBody>
        </p:sp>
      </p:grpSp>
      <p:grpSp>
        <p:nvGrpSpPr>
          <p:cNvPr id="12" name="chart-income"/>
          <p:cNvGrpSpPr/>
          <p:nvPr/>
        </p:nvGrpSpPr>
        <p:grpSpPr>
          <a:xfrm>
            <a:off x="4353306" y="1676400"/>
            <a:ext cx="7057644" cy="2270951"/>
            <a:chOff x="4353306" y="1676400"/>
            <a:chExt cx="7057644" cy="2270951"/>
          </a:xfrm>
        </p:grpSpPr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62450" y="1676400"/>
              <a:ext cx="7048500" cy="1333500"/>
            </a:xfrm>
            <a:prstGeom prst="rect">
              <a:avLst/>
            </a:prstGeom>
          </p:spPr>
        </p:pic>
        <p:sp>
          <p:nvSpPr>
            <p:cNvPr id="10" name="TextBox 10"/>
            <p:cNvSpPr txBox="1"/>
            <p:nvPr/>
          </p:nvSpPr>
          <p:spPr>
            <a:xfrm>
              <a:off x="4353306" y="3101340"/>
              <a:ext cx="432484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图 4-2｜年收入：原始刻度 vs log1p 后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355592" y="3435668"/>
              <a:ext cx="3691318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偏度 46.4 → 0.20，长尾压住；最高 1,099.9 万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变换后按 z-score 标准化，规则只在训练集拟合</a:t>
              </a:r>
            </a:p>
          </p:txBody>
        </p:sp>
      </p:grpSp>
      <p:grpSp>
        <p:nvGrpSpPr>
          <p:cNvPr id="15" name="chart-dist5"/>
          <p:cNvGrpSpPr/>
          <p:nvPr/>
        </p:nvGrpSpPr>
        <p:grpSpPr>
          <a:xfrm>
            <a:off x="676656" y="3996690"/>
            <a:ext cx="10829544" cy="1851660"/>
            <a:chOff x="676656" y="3996690"/>
            <a:chExt cx="10829544" cy="1851660"/>
          </a:xfrm>
        </p:grpSpPr>
        <p:sp>
          <p:nvSpPr>
            <p:cNvPr id="13" name="TextBox 13"/>
            <p:cNvSpPr txBox="1"/>
            <p:nvPr/>
          </p:nvSpPr>
          <p:spPr>
            <a:xfrm>
              <a:off x="676656" y="3996690"/>
              <a:ext cx="831337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图 4-3｜其余五个核心变量：量纲从 0.9% 到 6.5 万，统一 z-score 标准化</a:t>
              </a:r>
            </a:p>
          </p:txBody>
        </p:sp>
        <p:pic>
          <p:nvPicPr>
            <p:cNvPr id="14" name="Image 1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85800" y="4324350"/>
              <a:ext cx="10820400" cy="1524000"/>
            </a:xfrm>
            <a:prstGeom prst="rect">
              <a:avLst/>
            </a:prstGeom>
          </p:spPr>
        </p:pic>
      </p:grpSp>
      <p:grpSp>
        <p:nvGrpSpPr>
          <p:cNvPr id="18" name="page-footer"/>
          <p:cNvGrpSpPr/>
          <p:nvPr/>
        </p:nvGrpSpPr>
        <p:grpSpPr>
          <a:xfrm>
            <a:off x="678942" y="6045518"/>
            <a:ext cx="10834116" cy="264033"/>
            <a:chOff x="678942" y="6045518"/>
            <a:chExt cx="10834116" cy="264033"/>
          </a:xfrm>
        </p:grpSpPr>
        <p:sp>
          <p:nvSpPr>
            <p:cNvPr id="16" name="TextBox 16"/>
            <p:cNvSpPr txBox="1"/>
            <p:nvPr/>
          </p:nvSpPr>
          <p:spPr>
            <a:xfrm>
              <a:off x="678942" y="6045518"/>
              <a:ext cx="62068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来源：报告 4–5 节；清洗后训练集 798,498 行（本页与后续 EDA 均基于此）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890523" y="60455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04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670560" y="819150"/>
            <a:ext cx="10835640" cy="638175"/>
            <a:chOff x="670560" y="819150"/>
            <a:chExt cx="10835640" cy="638175"/>
          </a:xfrm>
        </p:grpSpPr>
        <p:sp>
          <p:nvSpPr>
            <p:cNvPr id="2" name="TextBox 2"/>
            <p:cNvSpPr txBox="1"/>
            <p:nvPr/>
          </p:nvSpPr>
          <p:spPr>
            <a:xfrm>
              <a:off x="670560" y="819150"/>
              <a:ext cx="10801695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spc="-38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相关性与分层：只有一对派生强相关，等级是最强的分层变量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685800" y="14478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262C33"/>
              </a:solidFill>
            </a:ln>
          </p:spPr>
        </p:sp>
      </p:grpSp>
      <p:grpSp>
        <p:nvGrpSpPr>
          <p:cNvPr id="6" name="caption-compare"/>
          <p:cNvGrpSpPr/>
          <p:nvPr/>
        </p:nvGrpSpPr>
        <p:grpSpPr>
          <a:xfrm>
            <a:off x="678942" y="1644968"/>
            <a:ext cx="5638476" cy="264033"/>
            <a:chOff x="678942" y="1644968"/>
            <a:chExt cx="5638476" cy="264033"/>
          </a:xfrm>
        </p:grpSpPr>
        <p:sp>
          <p:nvSpPr>
            <p:cNvPr id="5" name="TextBox 5"/>
            <p:cNvSpPr txBox="1"/>
            <p:nvPr/>
          </p:nvSpPr>
          <p:spPr>
            <a:xfrm>
              <a:off x="678942" y="1644968"/>
              <a:ext cx="56384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图 5-1｜违约组与正常组在同一批变量上的对比（年收入用 log 刻度）</a:t>
              </a:r>
            </a:p>
          </p:txBody>
        </p:sp>
      </p:grpSp>
      <p:grpSp>
        <p:nvGrpSpPr>
          <p:cNvPr id="8" name="chart-compare"/>
          <p:cNvGrpSpPr/>
          <p:nvPr/>
        </p:nvGrpSpPr>
        <p:grpSpPr>
          <a:xfrm>
            <a:off x="685800" y="1866900"/>
            <a:ext cx="10820400" cy="1333500"/>
            <a:chOff x="685800" y="1866900"/>
            <a:chExt cx="10820400" cy="1333500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5800" y="1866900"/>
              <a:ext cx="10820400" cy="1333500"/>
            </a:xfrm>
            <a:prstGeom prst="rect">
              <a:avLst/>
            </a:prstGeom>
          </p:spPr>
        </p:pic>
      </p:grpSp>
      <p:grpSp>
        <p:nvGrpSpPr>
          <p:cNvPr id="10" name="caption-corr"/>
          <p:cNvGrpSpPr/>
          <p:nvPr/>
        </p:nvGrpSpPr>
        <p:grpSpPr>
          <a:xfrm>
            <a:off x="678942" y="3264218"/>
            <a:ext cx="6319990" cy="264033"/>
            <a:chOff x="678942" y="3264218"/>
            <a:chExt cx="6319990" cy="264033"/>
          </a:xfrm>
        </p:grpSpPr>
        <p:sp>
          <p:nvSpPr>
            <p:cNvPr id="9" name="TextBox 9"/>
            <p:cNvSpPr txBox="1"/>
            <p:nvPr/>
          </p:nvSpPr>
          <p:spPr>
            <a:xfrm>
              <a:off x="678942" y="3264218"/>
              <a:ext cx="63199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图 5-2｜两两相关系数：最强一对 金额 × 分期 0.95（派生），其余 |r| ≤ 0.46</a:t>
              </a:r>
            </a:p>
          </p:txBody>
        </p:sp>
      </p:grpSp>
      <p:grpSp>
        <p:nvGrpSpPr>
          <p:cNvPr id="12" name="chart-corr"/>
          <p:cNvGrpSpPr/>
          <p:nvPr/>
        </p:nvGrpSpPr>
        <p:grpSpPr>
          <a:xfrm>
            <a:off x="685800" y="3467100"/>
            <a:ext cx="6667500" cy="2476500"/>
            <a:chOff x="685800" y="3467100"/>
            <a:chExt cx="6667500" cy="2476500"/>
          </a:xfrm>
        </p:grpSpPr>
        <p:pic>
          <p:nvPicPr>
            <p:cNvPr id="11" name="Image 1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5800" y="3467100"/>
              <a:ext cx="6667500" cy="2476500"/>
            </a:xfrm>
            <a:prstGeom prst="rect">
              <a:avLst/>
            </a:prstGeom>
          </p:spPr>
        </p:pic>
      </p:grpSp>
      <p:grpSp>
        <p:nvGrpSpPr>
          <p:cNvPr id="14" name="caption-grade"/>
          <p:cNvGrpSpPr/>
          <p:nvPr/>
        </p:nvGrpSpPr>
        <p:grpSpPr>
          <a:xfrm>
            <a:off x="7536942" y="3264218"/>
            <a:ext cx="2751430" cy="264033"/>
            <a:chOff x="7536942" y="3264218"/>
            <a:chExt cx="2751430" cy="264033"/>
          </a:xfrm>
        </p:grpSpPr>
        <p:sp>
          <p:nvSpPr>
            <p:cNvPr id="13" name="TextBox 13"/>
            <p:cNvSpPr txBox="1"/>
            <p:nvPr/>
          </p:nvSpPr>
          <p:spPr>
            <a:xfrm>
              <a:off x="7536942" y="3264218"/>
              <a:ext cx="27514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图 5-3｜A 级 6.0% → G 级 49.7%</a:t>
              </a:r>
            </a:p>
          </p:txBody>
        </p:sp>
      </p:grpSp>
      <p:grpSp>
        <p:nvGrpSpPr>
          <p:cNvPr id="16" name="chart-grade"/>
          <p:cNvGrpSpPr/>
          <p:nvPr/>
        </p:nvGrpSpPr>
        <p:grpSpPr>
          <a:xfrm>
            <a:off x="7543800" y="3467100"/>
            <a:ext cx="3848100" cy="2476500"/>
            <a:chOff x="7543800" y="3467100"/>
            <a:chExt cx="3848100" cy="2476500"/>
          </a:xfrm>
        </p:grpSpPr>
        <p:pic>
          <p:nvPicPr>
            <p:cNvPr id="15" name="Image 1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543800" y="3467100"/>
              <a:ext cx="3848100" cy="2476500"/>
            </a:xfrm>
            <a:prstGeom prst="rect">
              <a:avLst/>
            </a:prstGeom>
          </p:spPr>
        </p:pic>
      </p:grpSp>
      <p:grpSp>
        <p:nvGrpSpPr>
          <p:cNvPr id="19" name="page-footer"/>
          <p:cNvGrpSpPr/>
          <p:nvPr/>
        </p:nvGrpSpPr>
        <p:grpSpPr>
          <a:xfrm>
            <a:off x="678942" y="6045518"/>
            <a:ext cx="10834116" cy="264033"/>
            <a:chOff x="678942" y="6045518"/>
            <a:chExt cx="10834116" cy="264033"/>
          </a:xfrm>
        </p:grpSpPr>
        <p:sp>
          <p:nvSpPr>
            <p:cNvPr id="17" name="TextBox 17"/>
            <p:cNvSpPr txBox="1"/>
            <p:nvPr/>
          </p:nvSpPr>
          <p:spPr>
            <a:xfrm>
              <a:off x="678942" y="6045518"/>
              <a:ext cx="97457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读法：违约组利率 15.1% vs 12.2%、dti 19.7 vs 17.1、收入更低；金额 × 分期额 r=0.95 是派生关系，其余 |r| ≤ 0.46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890523" y="60455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05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670560" y="819150"/>
            <a:ext cx="10835640" cy="638175"/>
            <a:chOff x="670560" y="819150"/>
            <a:chExt cx="10835640" cy="638175"/>
          </a:xfrm>
        </p:grpSpPr>
        <p:sp>
          <p:nvSpPr>
            <p:cNvPr id="2" name="TextBox 2"/>
            <p:cNvSpPr txBox="1"/>
            <p:nvPr/>
          </p:nvSpPr>
          <p:spPr>
            <a:xfrm>
              <a:off x="670560" y="819150"/>
              <a:ext cx="849290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spc="-38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特征工程：47 个原始字段加工为 38 个建模特征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685800" y="14478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262C33"/>
              </a:solidFill>
            </a:ln>
          </p:spPr>
        </p:sp>
      </p:grpSp>
      <p:grpSp>
        <p:nvGrpSpPr>
          <p:cNvPr id="7" name="funnel-head"/>
          <p:cNvGrpSpPr/>
          <p:nvPr/>
        </p:nvGrpSpPr>
        <p:grpSpPr>
          <a:xfrm>
            <a:off x="676656" y="1596390"/>
            <a:ext cx="10838688" cy="352044"/>
            <a:chOff x="676656" y="1596390"/>
            <a:chExt cx="10838688" cy="352044"/>
          </a:xfrm>
        </p:grpSpPr>
        <p:sp>
          <p:nvSpPr>
            <p:cNvPr id="5" name="TextBox 5"/>
            <p:cNvSpPr txBox="1"/>
            <p:nvPr/>
          </p:nvSpPr>
          <p:spPr>
            <a:xfrm>
              <a:off x="676656" y="1596390"/>
              <a:ext cx="15860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47 个原始字段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929271" y="1596390"/>
              <a:ext cx="15860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38 个建模特征</a:t>
              </a:r>
            </a:p>
          </p:txBody>
        </p:sp>
      </p:grpSp>
      <p:grpSp>
        <p:nvGrpSpPr>
          <p:cNvPr id="14" name="funnel-band"/>
          <p:cNvGrpSpPr/>
          <p:nvPr/>
        </p:nvGrpSpPr>
        <p:grpSpPr>
          <a:xfrm>
            <a:off x="685800" y="1981200"/>
            <a:ext cx="10820400" cy="342900"/>
            <a:chOff x="685800" y="1981200"/>
            <a:chExt cx="10820400" cy="342900"/>
          </a:xfrm>
        </p:grpSpPr>
        <p:sp>
          <p:nvSpPr>
            <p:cNvPr id="8" name="Rectangle 8"/>
            <p:cNvSpPr/>
            <p:nvPr/>
          </p:nvSpPr>
          <p:spPr>
            <a:xfrm>
              <a:off x="685800" y="1981200"/>
              <a:ext cx="10820400" cy="57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Line 9"/>
            <p:cNvSpPr/>
            <p:nvPr/>
          </p:nvSpPr>
          <p:spPr>
            <a:xfrm>
              <a:off x="685800" y="203835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19050">
              <a:solidFill>
                <a:srgbClr val="6A7076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3390900" y="203835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19050">
              <a:solidFill>
                <a:srgbClr val="6A7076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6096000" y="203835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19050">
              <a:solidFill>
                <a:srgbClr val="6A7076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8801100" y="203835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11277600" y="203835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19050">
              <a:solidFill>
                <a:srgbClr val="6A7076"/>
              </a:solidFill>
            </a:ln>
          </p:spPr>
        </p:sp>
      </p:grpSp>
      <p:grpSp>
        <p:nvGrpSpPr>
          <p:cNvPr id="17" name="step-encode"/>
          <p:cNvGrpSpPr/>
          <p:nvPr/>
        </p:nvGrpSpPr>
        <p:grpSpPr>
          <a:xfrm>
            <a:off x="676656" y="2510790"/>
            <a:ext cx="1901952" cy="1112711"/>
            <a:chOff x="676656" y="2510790"/>
            <a:chExt cx="1901952" cy="1112711"/>
          </a:xfrm>
        </p:grpSpPr>
        <p:sp>
          <p:nvSpPr>
            <p:cNvPr id="15" name="TextBox 15"/>
            <p:cNvSpPr txBox="1"/>
            <p:nvPr/>
          </p:nvSpPr>
          <p:spPr>
            <a:xfrm>
              <a:off x="676656" y="251079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编码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78942" y="2902268"/>
              <a:ext cx="1899666" cy="7212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等级与子等级用序数编码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保留等级大小关系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地区用目标编码</a:t>
              </a:r>
            </a:p>
          </p:txBody>
        </p:sp>
      </p:grpSp>
      <p:grpSp>
        <p:nvGrpSpPr>
          <p:cNvPr id="20" name="step-transform"/>
          <p:cNvGrpSpPr/>
          <p:nvPr/>
        </p:nvGrpSpPr>
        <p:grpSpPr>
          <a:xfrm>
            <a:off x="3381756" y="2510790"/>
            <a:ext cx="1730502" cy="1112711"/>
            <a:chOff x="3381756" y="2510790"/>
            <a:chExt cx="1730502" cy="1112711"/>
          </a:xfrm>
        </p:grpSpPr>
        <p:sp>
          <p:nvSpPr>
            <p:cNvPr id="18" name="TextBox 18"/>
            <p:cNvSpPr txBox="1"/>
            <p:nvPr/>
          </p:nvSpPr>
          <p:spPr>
            <a:xfrm>
              <a:off x="3381756" y="251079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变换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384042" y="2902268"/>
              <a:ext cx="1728216" cy="7212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右偏变量做 log1p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再做 z-score 标准化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缺失值只在训练集拟合</a:t>
              </a:r>
            </a:p>
          </p:txBody>
        </p:sp>
      </p:grpSp>
      <p:grpSp>
        <p:nvGrpSpPr>
          <p:cNvPr id="23" name="step-create"/>
          <p:cNvGrpSpPr/>
          <p:nvPr/>
        </p:nvGrpSpPr>
        <p:grpSpPr>
          <a:xfrm>
            <a:off x="6086856" y="2510790"/>
            <a:ext cx="1910524" cy="1341311"/>
            <a:chOff x="6086856" y="2510790"/>
            <a:chExt cx="1910524" cy="1341311"/>
          </a:xfrm>
        </p:grpSpPr>
        <p:sp>
          <p:nvSpPr>
            <p:cNvPr id="21" name="TextBox 21"/>
            <p:cNvSpPr txBox="1"/>
            <p:nvPr/>
          </p:nvSpPr>
          <p:spPr>
            <a:xfrm>
              <a:off x="6086856" y="251079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创建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089142" y="2902268"/>
              <a:ext cx="1908238" cy="9498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grade × dti</a:t>
              </a:r>
              <a:br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interestRate ×</a:t>
              </a:r>
              <a:br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loanAmnt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grade_dti_inter 进前五</a:t>
              </a:r>
            </a:p>
          </p:txBody>
        </p:sp>
      </p:grpSp>
      <p:grpSp>
        <p:nvGrpSpPr>
          <p:cNvPr id="26" name="step-select"/>
          <p:cNvGrpSpPr/>
          <p:nvPr/>
        </p:nvGrpSpPr>
        <p:grpSpPr>
          <a:xfrm>
            <a:off x="8791956" y="2510790"/>
            <a:ext cx="1944814" cy="1112711"/>
            <a:chOff x="8791956" y="2510790"/>
            <a:chExt cx="1944814" cy="1112711"/>
          </a:xfrm>
        </p:grpSpPr>
        <p:sp>
          <p:nvSpPr>
            <p:cNvPr id="24" name="TextBox 24"/>
            <p:cNvSpPr txBox="1"/>
            <p:nvPr/>
          </p:nvSpPr>
          <p:spPr>
            <a:xfrm>
              <a:off x="8791956" y="251079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选择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794242" y="2902268"/>
              <a:ext cx="1942528" cy="7212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过滤法与嵌入法两路交叉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由 60 列筛到 38 个特征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包装法 RFE 成本高于收益</a:t>
              </a:r>
            </a:p>
          </p:txBody>
        </p:sp>
      </p:grpSp>
      <p:grpSp>
        <p:nvGrpSpPr>
          <p:cNvPr id="30" name="leakage-rule"/>
          <p:cNvGrpSpPr/>
          <p:nvPr/>
        </p:nvGrpSpPr>
        <p:grpSpPr>
          <a:xfrm>
            <a:off x="685800" y="4191000"/>
            <a:ext cx="7886700" cy="1524000"/>
            <a:chOff x="685800" y="4191000"/>
            <a:chExt cx="7886700" cy="1524000"/>
          </a:xfrm>
        </p:grpSpPr>
        <p:sp>
          <p:nvSpPr>
            <p:cNvPr id="27" name="Rectangle 27"/>
            <p:cNvSpPr/>
            <p:nvPr/>
          </p:nvSpPr>
          <p:spPr>
            <a:xfrm>
              <a:off x="685800" y="4191000"/>
              <a:ext cx="7886700" cy="1524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81456" y="4682490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防泄漏：规则只在训练集上学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83742" y="5112068"/>
              <a:ext cx="1556766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再套用到验证与测试</a:t>
              </a:r>
              <a:br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缺失值填充规则同理</a:t>
              </a:r>
            </a:p>
          </p:txBody>
        </p:sp>
      </p:grpSp>
      <p:grpSp>
        <p:nvGrpSpPr>
          <p:cNvPr id="33" name="feature-count"/>
          <p:cNvGrpSpPr/>
          <p:nvPr/>
        </p:nvGrpSpPr>
        <p:grpSpPr>
          <a:xfrm>
            <a:off x="8794242" y="3950018"/>
            <a:ext cx="2559920" cy="1764982"/>
            <a:chOff x="8794242" y="3950018"/>
            <a:chExt cx="2559920" cy="1764982"/>
          </a:xfrm>
        </p:grpSpPr>
        <p:sp>
          <p:nvSpPr>
            <p:cNvPr id="31" name="TextBox 31"/>
            <p:cNvSpPr txBox="1"/>
            <p:nvPr/>
          </p:nvSpPr>
          <p:spPr>
            <a:xfrm>
              <a:off x="8794242" y="3950018"/>
              <a:ext cx="25599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图 6-1｜特征数量与验证集 AUC</a:t>
              </a:r>
            </a:p>
          </p:txBody>
        </p:sp>
        <p:pic>
          <p:nvPicPr>
            <p:cNvPr id="32" name="Image 3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01100" y="4191000"/>
              <a:ext cx="2476500" cy="1524000"/>
            </a:xfrm>
            <a:prstGeom prst="rect">
              <a:avLst/>
            </a:prstGeom>
          </p:spPr>
        </p:pic>
      </p:grpSp>
      <p:grpSp>
        <p:nvGrpSpPr>
          <p:cNvPr id="36" name="page-footer"/>
          <p:cNvGrpSpPr/>
          <p:nvPr/>
        </p:nvGrpSpPr>
        <p:grpSpPr>
          <a:xfrm>
            <a:off x="678942" y="6045518"/>
            <a:ext cx="10834116" cy="264033"/>
            <a:chOff x="678942" y="6045518"/>
            <a:chExt cx="10834116" cy="264033"/>
          </a:xfrm>
        </p:grpSpPr>
        <p:sp>
          <p:nvSpPr>
            <p:cNvPr id="34" name="TextBox 34"/>
            <p:cNvSpPr txBox="1"/>
            <p:nvPr/>
          </p:nvSpPr>
          <p:spPr>
            <a:xfrm>
              <a:off x="678942" y="6045518"/>
              <a:ext cx="99473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图 6-1 为验证集 AUC（调参后 LGB，38 个时 0.7294）。来源：报告 5.1–5.6 节、outputs/W4/feature_count_auc.csv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890523" y="60455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06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670560" y="819150"/>
            <a:ext cx="10835640" cy="638175"/>
            <a:chOff x="670560" y="819150"/>
            <a:chExt cx="10835640" cy="638175"/>
          </a:xfrm>
        </p:grpSpPr>
        <p:sp>
          <p:nvSpPr>
            <p:cNvPr id="2" name="TextBox 2"/>
            <p:cNvSpPr txBox="1"/>
            <p:nvPr/>
          </p:nvSpPr>
          <p:spPr>
            <a:xfrm>
              <a:off x="670560" y="819150"/>
              <a:ext cx="10402951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spc="-38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模型优化：换调参方法几乎不影响成绩，增益来自参数本身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685800" y="14478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262C33"/>
              </a:solidFill>
            </a:ln>
          </p:spPr>
        </p:sp>
      </p:grpSp>
      <p:grpSp>
        <p:nvGrpSpPr>
          <p:cNvPr id="6" name="caption-cv"/>
          <p:cNvGrpSpPr/>
          <p:nvPr/>
        </p:nvGrpSpPr>
        <p:grpSpPr>
          <a:xfrm>
            <a:off x="678942" y="1644968"/>
            <a:ext cx="5104238" cy="264033"/>
            <a:chOff x="678942" y="1644968"/>
            <a:chExt cx="5104238" cy="264033"/>
          </a:xfrm>
        </p:grpSpPr>
        <p:sp>
          <p:nvSpPr>
            <p:cNvPr id="5" name="TextBox 5"/>
            <p:cNvSpPr txBox="1"/>
            <p:nvPr/>
          </p:nvSpPr>
          <p:spPr>
            <a:xfrm>
              <a:off x="678942" y="1644968"/>
              <a:ext cx="51042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图 7-1｜16 组参数的训练集 5 折平均 AUC（每折 80% 训练集）</a:t>
              </a:r>
            </a:p>
          </p:txBody>
        </p:sp>
      </p:grpSp>
      <p:grpSp>
        <p:nvGrpSpPr>
          <p:cNvPr id="8" name="chart-cv"/>
          <p:cNvGrpSpPr/>
          <p:nvPr/>
        </p:nvGrpSpPr>
        <p:grpSpPr>
          <a:xfrm>
            <a:off x="685800" y="1866900"/>
            <a:ext cx="5219700" cy="2571750"/>
            <a:chOff x="685800" y="1866900"/>
            <a:chExt cx="5219700" cy="2571750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5800" y="1866900"/>
              <a:ext cx="5219700" cy="2571750"/>
            </a:xfrm>
            <a:prstGeom prst="rect">
              <a:avLst/>
            </a:prstGeom>
          </p:spPr>
        </p:pic>
      </p:grpSp>
      <p:grpSp>
        <p:nvGrpSpPr>
          <p:cNvPr id="13" name="text-cv"/>
          <p:cNvGrpSpPr/>
          <p:nvPr/>
        </p:nvGrpSpPr>
        <p:grpSpPr>
          <a:xfrm>
            <a:off x="676656" y="4606290"/>
            <a:ext cx="3187313" cy="1055561"/>
            <a:chOff x="676656" y="4606290"/>
            <a:chExt cx="3187313" cy="1055561"/>
          </a:xfrm>
        </p:grpSpPr>
        <p:sp>
          <p:nvSpPr>
            <p:cNvPr id="9" name="TextBox 9"/>
            <p:cNvSpPr txBox="1"/>
            <p:nvPr/>
          </p:nvSpPr>
          <p:spPr>
            <a:xfrm>
              <a:off x="676656" y="4606290"/>
              <a:ext cx="31423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5 折分层交叉验证：分数可信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78942" y="4940618"/>
              <a:ext cx="31850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每折用 80% 训练集，标准差 ≤ 0.00071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78942" y="5169218"/>
              <a:ext cx="26718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最优 XGB 0.7247 / LGB 0.7249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8942" y="539781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16 组里最差一组也有 0.7167</a:t>
              </a:r>
            </a:p>
          </p:txBody>
        </p:sp>
      </p:grpSp>
      <p:grpSp>
        <p:nvGrpSpPr>
          <p:cNvPr id="15" name="caption-tuning"/>
          <p:cNvGrpSpPr/>
          <p:nvPr/>
        </p:nvGrpSpPr>
        <p:grpSpPr>
          <a:xfrm>
            <a:off x="6298692" y="1644968"/>
            <a:ext cx="2367210" cy="264033"/>
            <a:chOff x="6298692" y="1644968"/>
            <a:chExt cx="2367210" cy="264033"/>
          </a:xfrm>
        </p:grpSpPr>
        <p:sp>
          <p:nvSpPr>
            <p:cNvPr id="14" name="TextBox 14"/>
            <p:cNvSpPr txBox="1"/>
            <p:nvPr/>
          </p:nvSpPr>
          <p:spPr>
            <a:xfrm>
              <a:off x="6298692" y="1644968"/>
              <a:ext cx="23672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图 7-2｜三种方法等预算对照</a:t>
              </a:r>
            </a:p>
          </p:txBody>
        </p:sp>
      </p:grpSp>
      <p:grpSp>
        <p:nvGrpSpPr>
          <p:cNvPr id="17" name="chart-tuning"/>
          <p:cNvGrpSpPr/>
          <p:nvPr/>
        </p:nvGrpSpPr>
        <p:grpSpPr>
          <a:xfrm>
            <a:off x="6305550" y="1866900"/>
            <a:ext cx="5219700" cy="2571750"/>
            <a:chOff x="6305550" y="1866900"/>
            <a:chExt cx="5219700" cy="2571750"/>
          </a:xfrm>
        </p:grpSpPr>
        <p:pic>
          <p:nvPicPr>
            <p:cNvPr id="16" name="Image 1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05550" y="1866900"/>
              <a:ext cx="5219700" cy="2571750"/>
            </a:xfrm>
            <a:prstGeom prst="rect">
              <a:avLst/>
            </a:prstGeom>
          </p:spPr>
        </p:pic>
      </p:grpSp>
      <p:grpSp>
        <p:nvGrpSpPr>
          <p:cNvPr id="22" name="text-tuning"/>
          <p:cNvGrpSpPr/>
          <p:nvPr/>
        </p:nvGrpSpPr>
        <p:grpSpPr>
          <a:xfrm>
            <a:off x="6296406" y="4606290"/>
            <a:ext cx="4041477" cy="1055561"/>
            <a:chOff x="6296406" y="4606290"/>
            <a:chExt cx="4041477" cy="1055561"/>
          </a:xfrm>
        </p:grpSpPr>
        <p:sp>
          <p:nvSpPr>
            <p:cNvPr id="18" name="TextBox 18"/>
            <p:cNvSpPr txBox="1"/>
            <p:nvPr/>
          </p:nvSpPr>
          <p:spPr>
            <a:xfrm>
              <a:off x="6296406" y="46062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方法差异可以忽略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298692" y="4940618"/>
              <a:ext cx="30032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同模型内三法最好成绩极差 &lt; 0.0002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298692" y="5169218"/>
              <a:ext cx="37393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换参数的跨度 0.0124，是换方法的 80–110 倍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298692" y="5397818"/>
              <a:ext cx="40391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正式用随机搜索：库自带、可复现；贝叶斯慢 35%</a:t>
              </a:r>
            </a:p>
          </p:txBody>
        </p:sp>
      </p:grpSp>
      <p:grpSp>
        <p:nvGrpSpPr>
          <p:cNvPr id="25" name="page-footer"/>
          <p:cNvGrpSpPr/>
          <p:nvPr/>
        </p:nvGrpSpPr>
        <p:grpSpPr>
          <a:xfrm>
            <a:off x="678942" y="6045518"/>
            <a:ext cx="10834116" cy="264033"/>
            <a:chOff x="678942" y="6045518"/>
            <a:chExt cx="10834116" cy="264033"/>
          </a:xfrm>
        </p:grpSpPr>
        <p:sp>
          <p:nvSpPr>
            <p:cNvPr id="23" name="TextBox 23"/>
            <p:cNvSpPr txBox="1"/>
            <p:nvPr/>
          </p:nvSpPr>
          <p:spPr>
            <a:xfrm>
              <a:off x="678942" y="6045518"/>
              <a:ext cx="83372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口径：本页为训练集 5 折均值；选型看验证集 0.7294、对外看测试集 0.7249。来源：报告 7.1–7.3 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890523" y="60455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07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670560" y="819150"/>
            <a:ext cx="10835640" cy="638175"/>
            <a:chOff x="670560" y="819150"/>
            <a:chExt cx="10835640" cy="638175"/>
          </a:xfrm>
        </p:grpSpPr>
        <p:sp>
          <p:nvSpPr>
            <p:cNvPr id="2" name="TextBox 2"/>
            <p:cNvSpPr txBox="1"/>
            <p:nvPr/>
          </p:nvSpPr>
          <p:spPr>
            <a:xfrm>
              <a:off x="670560" y="819150"/>
              <a:ext cx="91937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spc="-38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模型选型：基线对照与等预算调参后选用 LightGBM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685800" y="14478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262C33"/>
              </a:solidFill>
            </a:ln>
          </p:spPr>
        </p:sp>
      </p:grpSp>
      <p:grpSp>
        <p:nvGrpSpPr>
          <p:cNvPr id="6" name="judgement"/>
          <p:cNvGrpSpPr/>
          <p:nvPr/>
        </p:nvGrpSpPr>
        <p:grpSpPr>
          <a:xfrm>
            <a:off x="676656" y="1691640"/>
            <a:ext cx="5463883" cy="352044"/>
            <a:chOff x="676656" y="1691640"/>
            <a:chExt cx="5463883" cy="352044"/>
          </a:xfrm>
        </p:grpSpPr>
        <p:sp>
          <p:nvSpPr>
            <p:cNvPr id="5" name="TextBox 5"/>
            <p:cNvSpPr txBox="1"/>
            <p:nvPr/>
          </p:nvSpPr>
          <p:spPr>
            <a:xfrm>
              <a:off x="676656" y="1691640"/>
              <a:ext cx="54638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同口径对比五个单模型，LightGBM（调参后）最高</a:t>
              </a:r>
            </a:p>
          </p:txBody>
        </p:sp>
      </p:grpSp>
      <p:grpSp>
        <p:nvGrpSpPr>
          <p:cNvPr id="38" name="model-table"/>
          <p:cNvGrpSpPr/>
          <p:nvPr/>
        </p:nvGrpSpPr>
        <p:grpSpPr>
          <a:xfrm>
            <a:off x="676656" y="2216468"/>
            <a:ext cx="5618988" cy="2932366"/>
            <a:chOff x="676656" y="2216468"/>
            <a:chExt cx="5618988" cy="2932366"/>
          </a:xfrm>
        </p:grpSpPr>
        <p:sp>
          <p:nvSpPr>
            <p:cNvPr id="7" name="TextBox 7"/>
            <p:cNvSpPr txBox="1"/>
            <p:nvPr/>
          </p:nvSpPr>
          <p:spPr>
            <a:xfrm>
              <a:off x="678942" y="22164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模型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121734" y="2216468"/>
              <a:ext cx="9333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验证集 AUC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189220" y="22164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单次训练耗时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685800" y="2514600"/>
              <a:ext cx="5600700" cy="9525"/>
            </a:xfrm>
            <a:custGeom>
              <a:avLst/>
              <a:gdLst/>
              <a:ahLst/>
              <a:cxnLst/>
              <a:rect l="l" t="t" r="r" b="b"/>
              <a:pathLst>
                <a:path w="5600700" h="9525">
                  <a:moveTo>
                    <a:pt x="0" y="0"/>
                  </a:moveTo>
                  <a:lnTo>
                    <a:pt x="56007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685800" y="2971800"/>
              <a:ext cx="5600700" cy="9525"/>
            </a:xfrm>
            <a:custGeom>
              <a:avLst/>
              <a:gdLst/>
              <a:ahLst/>
              <a:cxnLst/>
              <a:rect l="l" t="t" r="r" b="b"/>
              <a:pathLst>
                <a:path w="5600700" h="9525">
                  <a:moveTo>
                    <a:pt x="0" y="0"/>
                  </a:moveTo>
                  <a:lnTo>
                    <a:pt x="5600700" y="0"/>
                  </a:lnTo>
                </a:path>
              </a:pathLst>
            </a:custGeom>
            <a:noFill/>
            <a:ln w="9525">
              <a:solidFill>
                <a:srgbClr val="262C33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685800" y="3333750"/>
              <a:ext cx="5600700" cy="9525"/>
            </a:xfrm>
            <a:custGeom>
              <a:avLst/>
              <a:gdLst/>
              <a:ahLst/>
              <a:cxnLst/>
              <a:rect l="l" t="t" r="r" b="b"/>
              <a:pathLst>
                <a:path w="5600700" h="9525">
                  <a:moveTo>
                    <a:pt x="0" y="0"/>
                  </a:moveTo>
                  <a:lnTo>
                    <a:pt x="5600700" y="0"/>
                  </a:lnTo>
                </a:path>
              </a:pathLst>
            </a:custGeom>
            <a:noFill/>
            <a:ln w="9525">
              <a:solidFill>
                <a:srgbClr val="262C33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685800" y="3695700"/>
              <a:ext cx="5600700" cy="9525"/>
            </a:xfrm>
            <a:custGeom>
              <a:avLst/>
              <a:gdLst/>
              <a:ahLst/>
              <a:cxnLst/>
              <a:rect l="l" t="t" r="r" b="b"/>
              <a:pathLst>
                <a:path w="5600700" h="9525">
                  <a:moveTo>
                    <a:pt x="0" y="0"/>
                  </a:moveTo>
                  <a:lnTo>
                    <a:pt x="5600700" y="0"/>
                  </a:lnTo>
                </a:path>
              </a:pathLst>
            </a:custGeom>
            <a:noFill/>
            <a:ln w="9525">
              <a:solidFill>
                <a:srgbClr val="262C33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685800" y="4057650"/>
              <a:ext cx="5600700" cy="9525"/>
            </a:xfrm>
            <a:custGeom>
              <a:avLst/>
              <a:gdLst/>
              <a:ahLst/>
              <a:cxnLst/>
              <a:rect l="l" t="t" r="r" b="b"/>
              <a:pathLst>
                <a:path w="5600700" h="9525">
                  <a:moveTo>
                    <a:pt x="0" y="0"/>
                  </a:moveTo>
                  <a:lnTo>
                    <a:pt x="5600700" y="0"/>
                  </a:lnTo>
                </a:path>
              </a:pathLst>
            </a:custGeom>
            <a:noFill/>
            <a:ln w="9525">
              <a:solidFill>
                <a:srgbClr val="262C33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685800" y="4419600"/>
              <a:ext cx="5600700" cy="9525"/>
            </a:xfrm>
            <a:custGeom>
              <a:avLst/>
              <a:gdLst/>
              <a:ahLst/>
              <a:cxnLst/>
              <a:rect l="l" t="t" r="r" b="b"/>
              <a:pathLst>
                <a:path w="5600700" h="9525">
                  <a:moveTo>
                    <a:pt x="0" y="0"/>
                  </a:moveTo>
                  <a:lnTo>
                    <a:pt x="5600700" y="0"/>
                  </a:lnTo>
                </a:path>
              </a:pathLst>
            </a:custGeom>
            <a:noFill/>
            <a:ln w="9525">
              <a:solidFill>
                <a:srgbClr val="262C33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685800" y="4781550"/>
              <a:ext cx="5600700" cy="9525"/>
            </a:xfrm>
            <a:custGeom>
              <a:avLst/>
              <a:gdLst/>
              <a:ahLst/>
              <a:cxnLst/>
              <a:rect l="l" t="t" r="r" b="b"/>
              <a:pathLst>
                <a:path w="5600700" h="9525">
                  <a:moveTo>
                    <a:pt x="0" y="0"/>
                  </a:moveTo>
                  <a:lnTo>
                    <a:pt x="5600700" y="0"/>
                  </a:lnTo>
                </a:path>
              </a:pathLst>
            </a:custGeom>
            <a:noFill/>
            <a:ln w="9525">
              <a:solidFill>
                <a:srgbClr val="262C33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76656" y="26250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逻辑回归（基线）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239463" y="2625090"/>
              <a:ext cx="81793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0.7189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144082" y="262509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76656" y="298704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随机森林（基线）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239463" y="2987040"/>
              <a:ext cx="81793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0.7198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144082" y="298704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76656" y="3348990"/>
              <a:ext cx="19431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XGBoost（基线）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239463" y="3348990"/>
              <a:ext cx="81793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0.7276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562524" y="3348990"/>
              <a:ext cx="7331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1.8 秒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76656" y="3710940"/>
              <a:ext cx="21854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XGBoost（调参后）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239463" y="3710940"/>
              <a:ext cx="81793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0.7286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562524" y="3710940"/>
              <a:ext cx="7331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4.6 秒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76656" y="4072890"/>
              <a:ext cx="236797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LightGBM（调参后）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199481" y="4072890"/>
              <a:ext cx="85791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0.7294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538898" y="4072890"/>
              <a:ext cx="7567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5.6 秒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76656" y="44348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投票集成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239463" y="4434840"/>
              <a:ext cx="81793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0.7276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429250" y="4434840"/>
              <a:ext cx="86639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44.7 秒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76656" y="47967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堆叠集成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239463" y="4796790"/>
              <a:ext cx="81793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0.7298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295976" y="4796790"/>
              <a:ext cx="9996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371.0 秒</a:t>
              </a:r>
            </a:p>
          </p:txBody>
        </p:sp>
      </p:grpSp>
      <p:grpSp>
        <p:nvGrpSpPr>
          <p:cNvPr id="40" name="table-note"/>
          <p:cNvGrpSpPr/>
          <p:nvPr/>
        </p:nvGrpSpPr>
        <p:grpSpPr>
          <a:xfrm>
            <a:off x="678942" y="5245418"/>
            <a:ext cx="4958848" cy="264033"/>
            <a:chOff x="678942" y="5245418"/>
            <a:chExt cx="4958848" cy="264033"/>
          </a:xfrm>
        </p:grpSpPr>
        <p:sp>
          <p:nvSpPr>
            <p:cNvPr id="39" name="TextBox 39"/>
            <p:cNvSpPr txBox="1"/>
            <p:nvPr/>
          </p:nvSpPr>
          <p:spPr>
            <a:xfrm>
              <a:off x="678942" y="5245418"/>
              <a:ext cx="49588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验证集 AUC（159,700 人）为选型口径；耗时取同机单次训练</a:t>
              </a:r>
            </a:p>
          </p:txBody>
        </p:sp>
      </p:grpSp>
      <p:grpSp>
        <p:nvGrpSpPr>
          <p:cNvPr id="43" name="learning-curve"/>
          <p:cNvGrpSpPr/>
          <p:nvPr/>
        </p:nvGrpSpPr>
        <p:grpSpPr>
          <a:xfrm>
            <a:off x="7041642" y="1664018"/>
            <a:ext cx="4464558" cy="3174682"/>
            <a:chOff x="7041642" y="1664018"/>
            <a:chExt cx="4464558" cy="3174682"/>
          </a:xfrm>
        </p:grpSpPr>
        <p:sp>
          <p:nvSpPr>
            <p:cNvPr id="41" name="TextBox 41"/>
            <p:cNvSpPr txBox="1"/>
            <p:nvPr/>
          </p:nvSpPr>
          <p:spPr>
            <a:xfrm>
              <a:off x="7041642" y="1664018"/>
              <a:ext cx="41845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图 8-1｜学习曲线：灰训练集、白验证集，末点贴合</a:t>
              </a:r>
            </a:p>
          </p:txBody>
        </p:sp>
        <p:pic>
          <p:nvPicPr>
            <p:cNvPr id="42" name="Image 4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48500" y="1905000"/>
              <a:ext cx="4457700" cy="2933700"/>
            </a:xfrm>
            <a:prstGeom prst="rect">
              <a:avLst/>
            </a:prstGeom>
          </p:spPr>
        </p:pic>
      </p:grpSp>
      <p:grpSp>
        <p:nvGrpSpPr>
          <p:cNvPr id="46" name="rejected-options"/>
          <p:cNvGrpSpPr/>
          <p:nvPr/>
        </p:nvGrpSpPr>
        <p:grpSpPr>
          <a:xfrm>
            <a:off x="7041642" y="4959668"/>
            <a:ext cx="3468434" cy="1083183"/>
            <a:chOff x="7041642" y="4959668"/>
            <a:chExt cx="3468434" cy="1083183"/>
          </a:xfrm>
        </p:grpSpPr>
        <p:sp>
          <p:nvSpPr>
            <p:cNvPr id="44" name="TextBox 44"/>
            <p:cNvSpPr txBox="1"/>
            <p:nvPr/>
          </p:nvSpPr>
          <p:spPr>
            <a:xfrm>
              <a:off x="7041642" y="49596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被否掉的方案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041642" y="5245418"/>
              <a:ext cx="3468434" cy="797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网格 / 贝叶斯调参：等预算下与随机搜索等效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投票 / 堆叠：无实质提升，堆叠训练 371 秒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DeLong 检验：基线与投票的差异不显著</a:t>
              </a:r>
            </a:p>
          </p:txBody>
        </p:sp>
      </p:grpSp>
      <p:grpSp>
        <p:nvGrpSpPr>
          <p:cNvPr id="49" name="page-footer"/>
          <p:cNvGrpSpPr/>
          <p:nvPr/>
        </p:nvGrpSpPr>
        <p:grpSpPr>
          <a:xfrm>
            <a:off x="678942" y="6045518"/>
            <a:ext cx="10834116" cy="264033"/>
            <a:chOff x="678942" y="6045518"/>
            <a:chExt cx="10834116" cy="264033"/>
          </a:xfrm>
        </p:grpSpPr>
        <p:sp>
          <p:nvSpPr>
            <p:cNvPr id="47" name="TextBox 47"/>
            <p:cNvSpPr txBox="1"/>
            <p:nvPr/>
          </p:nvSpPr>
          <p:spPr>
            <a:xfrm>
              <a:off x="678942" y="6045518"/>
              <a:ext cx="79804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来源：报告 7.4–7.5 节；调参方法对照见上一页，显著性见 outputs/W3/significance_test.csv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890523" y="60455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08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670560" y="819150"/>
            <a:ext cx="10835640" cy="638175"/>
            <a:chOff x="670560" y="819150"/>
            <a:chExt cx="10835640" cy="638175"/>
          </a:xfrm>
        </p:grpSpPr>
        <p:sp>
          <p:nvSpPr>
            <p:cNvPr id="2" name="TextBox 2"/>
            <p:cNvSpPr txBox="1"/>
            <p:nvPr/>
          </p:nvSpPr>
          <p:spPr>
            <a:xfrm>
              <a:off x="670560" y="819150"/>
              <a:ext cx="801048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spc="-38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模型评估：排序可用于初筛，概率刻度需校准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685800" y="14478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262C33"/>
              </a:solidFill>
            </a:ln>
          </p:spPr>
        </p:sp>
      </p:grpSp>
      <p:grpSp>
        <p:nvGrpSpPr>
          <p:cNvPr id="7" name="reading-1"/>
          <p:cNvGrpSpPr/>
          <p:nvPr/>
        </p:nvGrpSpPr>
        <p:grpSpPr>
          <a:xfrm>
            <a:off x="676656" y="1615440"/>
            <a:ext cx="3487179" cy="579311"/>
            <a:chOff x="676656" y="1615440"/>
            <a:chExt cx="3487179" cy="579311"/>
          </a:xfrm>
        </p:grpSpPr>
        <p:sp>
          <p:nvSpPr>
            <p:cNvPr id="5" name="TextBox 5"/>
            <p:cNvSpPr txBox="1"/>
            <p:nvPr/>
          </p:nvSpPr>
          <p:spPr>
            <a:xfrm>
              <a:off x="676656" y="1615440"/>
              <a:ext cx="30463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三集 AUC 贴合，没有过拟合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78942" y="1930718"/>
              <a:ext cx="34848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训练 0.7432 / 验证 0.7294 / 测试 0.7249</a:t>
              </a:r>
            </a:p>
          </p:txBody>
        </p:sp>
      </p:grpSp>
      <p:grpSp>
        <p:nvGrpSpPr>
          <p:cNvPr id="10" name="reading-2"/>
          <p:cNvGrpSpPr/>
          <p:nvPr/>
        </p:nvGrpSpPr>
        <p:grpSpPr>
          <a:xfrm>
            <a:off x="676656" y="2434590"/>
            <a:ext cx="3690427" cy="826961"/>
            <a:chOff x="676656" y="2434590"/>
            <a:chExt cx="3690427" cy="826961"/>
          </a:xfrm>
        </p:grpSpPr>
        <p:sp>
          <p:nvSpPr>
            <p:cNvPr id="8" name="TextBox 8"/>
            <p:cNvSpPr txBox="1"/>
            <p:nvPr/>
          </p:nvSpPr>
          <p:spPr>
            <a:xfrm>
              <a:off x="676656" y="2434590"/>
              <a:ext cx="369042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KS 0.3269，高于常用 0.30 门槛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78942" y="2749868"/>
              <a:ext cx="2491168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可用于风险排序与辅助人工审核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AUC 0.72 不足以支撑全自动放款</a:t>
              </a:r>
            </a:p>
          </p:txBody>
        </p:sp>
      </p:grpSp>
      <p:grpSp>
        <p:nvGrpSpPr>
          <p:cNvPr id="13" name="reading-3"/>
          <p:cNvGrpSpPr/>
          <p:nvPr/>
        </p:nvGrpSpPr>
        <p:grpSpPr>
          <a:xfrm>
            <a:off x="676656" y="3425190"/>
            <a:ext cx="3144964" cy="1074611"/>
            <a:chOff x="676656" y="3425190"/>
            <a:chExt cx="3144964" cy="1074611"/>
          </a:xfrm>
        </p:grpSpPr>
        <p:sp>
          <p:nvSpPr>
            <p:cNvPr id="11" name="TextBox 11"/>
            <p:cNvSpPr txBox="1"/>
            <p:nvPr/>
          </p:nvSpPr>
          <p:spPr>
            <a:xfrm>
              <a:off x="676656" y="342519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概率刻度偏高一倍以上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8942" y="3740468"/>
              <a:ext cx="3142678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平均预测 0.4495，实际违约率 0.1995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Platt 校准后平均 0.1993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Brier 由 0.2106 降到 0.1424，AUC 不变</a:t>
              </a:r>
            </a:p>
          </p:txBody>
        </p:sp>
      </p:grpSp>
      <p:grpSp>
        <p:nvGrpSpPr>
          <p:cNvPr id="16" name="chart-shap"/>
          <p:cNvGrpSpPr/>
          <p:nvPr/>
        </p:nvGrpSpPr>
        <p:grpSpPr>
          <a:xfrm>
            <a:off x="678942" y="4559618"/>
            <a:ext cx="3454908" cy="1422082"/>
            <a:chOff x="678942" y="4559618"/>
            <a:chExt cx="3454908" cy="1422082"/>
          </a:xfrm>
        </p:grpSpPr>
        <p:sp>
          <p:nvSpPr>
            <p:cNvPr id="14" name="TextBox 14"/>
            <p:cNvSpPr txBox="1"/>
            <p:nvPr/>
          </p:nvSpPr>
          <p:spPr>
            <a:xfrm>
              <a:off x="678942" y="4559618"/>
              <a:ext cx="31531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图 9-5｜SHAP：模型最看重的五个特征</a:t>
              </a:r>
            </a:p>
          </p:txBody>
        </p:sp>
        <p:pic>
          <p:nvPicPr>
            <p:cNvPr id="15" name="Image 1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5800" y="4781550"/>
              <a:ext cx="3448050" cy="1200150"/>
            </a:xfrm>
            <a:prstGeom prst="rect">
              <a:avLst/>
            </a:prstGeom>
          </p:spPr>
        </p:pic>
      </p:grpSp>
      <p:grpSp>
        <p:nvGrpSpPr>
          <p:cNvPr id="19" name="chart-roc"/>
          <p:cNvGrpSpPr/>
          <p:nvPr/>
        </p:nvGrpSpPr>
        <p:grpSpPr>
          <a:xfrm>
            <a:off x="4603242" y="1664018"/>
            <a:ext cx="3083433" cy="2031682"/>
            <a:chOff x="4603242" y="1664018"/>
            <a:chExt cx="3083433" cy="2031682"/>
          </a:xfrm>
        </p:grpSpPr>
        <p:sp>
          <p:nvSpPr>
            <p:cNvPr id="17" name="TextBox 17"/>
            <p:cNvSpPr txBox="1"/>
            <p:nvPr/>
          </p:nvSpPr>
          <p:spPr>
            <a:xfrm>
              <a:off x="4603242" y="1664018"/>
              <a:ext cx="22766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图 9-1｜ROC，AUC 0.7249</a:t>
              </a:r>
            </a:p>
          </p:txBody>
        </p:sp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10100" y="1885950"/>
              <a:ext cx="3076575" cy="1809750"/>
            </a:xfrm>
            <a:prstGeom prst="rect">
              <a:avLst/>
            </a:prstGeom>
          </p:spPr>
        </p:pic>
      </p:grpSp>
      <p:grpSp>
        <p:nvGrpSpPr>
          <p:cNvPr id="22" name="chart-pr"/>
          <p:cNvGrpSpPr/>
          <p:nvPr/>
        </p:nvGrpSpPr>
        <p:grpSpPr>
          <a:xfrm>
            <a:off x="7908417" y="1664018"/>
            <a:ext cx="3287211" cy="2031682"/>
            <a:chOff x="7908417" y="1664018"/>
            <a:chExt cx="3287211" cy="2031682"/>
          </a:xfrm>
        </p:grpSpPr>
        <p:sp>
          <p:nvSpPr>
            <p:cNvPr id="20" name="TextBox 20"/>
            <p:cNvSpPr txBox="1"/>
            <p:nvPr/>
          </p:nvSpPr>
          <p:spPr>
            <a:xfrm>
              <a:off x="7908417" y="1664018"/>
              <a:ext cx="32872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图 9-2｜PR，精确率 0.325（召回≥1%）</a:t>
              </a:r>
            </a:p>
          </p:txBody>
        </p:sp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915275" y="1885950"/>
              <a:ext cx="3076575" cy="1809750"/>
            </a:xfrm>
            <a:prstGeom prst="rect">
              <a:avLst/>
            </a:prstGeom>
          </p:spPr>
        </p:pic>
      </p:grpSp>
      <p:grpSp>
        <p:nvGrpSpPr>
          <p:cNvPr id="25" name="chart-confusion"/>
          <p:cNvGrpSpPr/>
          <p:nvPr/>
        </p:nvGrpSpPr>
        <p:grpSpPr>
          <a:xfrm>
            <a:off x="4603242" y="3930968"/>
            <a:ext cx="3083433" cy="2031682"/>
            <a:chOff x="4603242" y="3930968"/>
            <a:chExt cx="3083433" cy="2031682"/>
          </a:xfrm>
        </p:grpSpPr>
        <p:sp>
          <p:nvSpPr>
            <p:cNvPr id="23" name="TextBox 23"/>
            <p:cNvSpPr txBox="1"/>
            <p:nvPr/>
          </p:nvSpPr>
          <p:spPr>
            <a:xfrm>
              <a:off x="4603242" y="3930968"/>
              <a:ext cx="25489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图 9-3｜判违约者三分之一属实</a:t>
              </a:r>
            </a:p>
          </p:txBody>
        </p:sp>
        <p:pic>
          <p:nvPicPr>
            <p:cNvPr id="24" name="Image 2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10100" y="4152900"/>
              <a:ext cx="3076575" cy="1809750"/>
            </a:xfrm>
            <a:prstGeom prst="rect">
              <a:avLst/>
            </a:prstGeom>
          </p:spPr>
        </p:pic>
      </p:grpSp>
      <p:grpSp>
        <p:nvGrpSpPr>
          <p:cNvPr id="28" name="chart-calibration"/>
          <p:cNvGrpSpPr/>
          <p:nvPr/>
        </p:nvGrpSpPr>
        <p:grpSpPr>
          <a:xfrm>
            <a:off x="7908417" y="3930968"/>
            <a:ext cx="3083433" cy="2031682"/>
            <a:chOff x="7908417" y="3930968"/>
            <a:chExt cx="3083433" cy="2031682"/>
          </a:xfrm>
        </p:grpSpPr>
        <p:sp>
          <p:nvSpPr>
            <p:cNvPr id="26" name="TextBox 26"/>
            <p:cNvSpPr txBox="1"/>
            <p:nvPr/>
          </p:nvSpPr>
          <p:spPr>
            <a:xfrm>
              <a:off x="7908417" y="3930968"/>
              <a:ext cx="25489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图 9-4｜校准后贴近实际违约率</a:t>
              </a:r>
            </a:p>
          </p:txBody>
        </p:sp>
        <p:pic>
          <p:nvPicPr>
            <p:cNvPr id="27" name="Image 27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915275" y="4152900"/>
              <a:ext cx="3076575" cy="1809750"/>
            </a:xfrm>
            <a:prstGeom prst="rect">
              <a:avLst/>
            </a:prstGeom>
          </p:spPr>
        </p:pic>
      </p:grpSp>
      <p:grpSp>
        <p:nvGrpSpPr>
          <p:cNvPr id="31" name="page-footer"/>
          <p:cNvGrpSpPr/>
          <p:nvPr/>
        </p:nvGrpSpPr>
        <p:grpSpPr>
          <a:xfrm>
            <a:off x="678942" y="6045518"/>
            <a:ext cx="10834116" cy="264033"/>
            <a:chOff x="678942" y="6045518"/>
            <a:chExt cx="10834116" cy="264033"/>
          </a:xfrm>
        </p:grpSpPr>
        <p:sp>
          <p:nvSpPr>
            <p:cNvPr id="29" name="TextBox 29"/>
            <p:cNvSpPr txBox="1"/>
            <p:nvPr/>
          </p:nvSpPr>
          <p:spPr>
            <a:xfrm>
              <a:off x="678942" y="6045518"/>
              <a:ext cx="90616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来源：报告 9.1–9.5 节；SHAP 前五：子等级 0.335、期限 0.165、自有住房 0.122、等级 0.099、FICO 0.091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890523" y="60455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09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670560" y="819150"/>
            <a:ext cx="10835640" cy="638175"/>
            <a:chOff x="670560" y="819150"/>
            <a:chExt cx="10835640" cy="638175"/>
          </a:xfrm>
        </p:grpSpPr>
        <p:sp>
          <p:nvSpPr>
            <p:cNvPr id="2" name="TextBox 2"/>
            <p:cNvSpPr txBox="1"/>
            <p:nvPr/>
          </p:nvSpPr>
          <p:spPr>
            <a:xfrm>
              <a:off x="670560" y="819150"/>
              <a:ext cx="889959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spc="-38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名单头部：分数最高的 10% 覆盖 24.1% 的违约者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685800" y="14478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262C33"/>
              </a:solidFill>
            </a:ln>
          </p:spPr>
        </p:sp>
      </p:grpSp>
      <p:grpSp>
        <p:nvGrpSpPr>
          <p:cNvPr id="7" name="head-chart"/>
          <p:cNvGrpSpPr/>
          <p:nvPr/>
        </p:nvGrpSpPr>
        <p:grpSpPr>
          <a:xfrm>
            <a:off x="678942" y="1644968"/>
            <a:ext cx="10827258" cy="2507932"/>
            <a:chOff x="678942" y="1644968"/>
            <a:chExt cx="10827258" cy="2507932"/>
          </a:xfrm>
        </p:grpSpPr>
        <p:sp>
          <p:nvSpPr>
            <p:cNvPr id="5" name="TextBox 5"/>
            <p:cNvSpPr txBox="1"/>
            <p:nvPr/>
          </p:nvSpPr>
          <p:spPr>
            <a:xfrm>
              <a:off x="678942" y="1644968"/>
              <a:ext cx="49933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图 10-1｜名单头部占比与违约者捕获率（测试集 79,850 人）</a:t>
              </a:r>
            </a:p>
          </p:txBody>
        </p:sp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5800" y="2438400"/>
              <a:ext cx="10820400" cy="1714500"/>
            </a:xfrm>
            <a:prstGeom prst="rect">
              <a:avLst/>
            </a:prstGeom>
          </p:spPr>
        </p:pic>
      </p:grpSp>
      <p:grpSp>
        <p:nvGrpSpPr>
          <p:cNvPr id="10" name="stat-top10"/>
          <p:cNvGrpSpPr/>
          <p:nvPr/>
        </p:nvGrpSpPr>
        <p:grpSpPr>
          <a:xfrm>
            <a:off x="666750" y="4922520"/>
            <a:ext cx="2142211" cy="1047750"/>
            <a:chOff x="666750" y="4922520"/>
            <a:chExt cx="2142211" cy="1047750"/>
          </a:xfrm>
        </p:grpSpPr>
        <p:sp>
          <p:nvSpPr>
            <p:cNvPr id="8" name="TextBox 8"/>
            <p:cNvSpPr txBox="1"/>
            <p:nvPr/>
          </p:nvSpPr>
          <p:spPr>
            <a:xfrm>
              <a:off x="666750" y="4922520"/>
              <a:ext cx="2142211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spc="-7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24.1%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78942" y="5607368"/>
              <a:ext cx="20946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前 10% 捕获的违约者占比</a:t>
              </a:r>
            </a:p>
          </p:txBody>
        </p:sp>
      </p:grpSp>
      <p:grpSp>
        <p:nvGrpSpPr>
          <p:cNvPr id="13" name="stat-head-rate"/>
          <p:cNvGrpSpPr/>
          <p:nvPr/>
        </p:nvGrpSpPr>
        <p:grpSpPr>
          <a:xfrm>
            <a:off x="4286250" y="4922520"/>
            <a:ext cx="2142211" cy="1047750"/>
            <a:chOff x="4286250" y="4922520"/>
            <a:chExt cx="2142211" cy="1047750"/>
          </a:xfrm>
        </p:grpSpPr>
        <p:sp>
          <p:nvSpPr>
            <p:cNvPr id="11" name="TextBox 11"/>
            <p:cNvSpPr txBox="1"/>
            <p:nvPr/>
          </p:nvSpPr>
          <p:spPr>
            <a:xfrm>
              <a:off x="4286250" y="4922520"/>
              <a:ext cx="2142211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spc="-75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48.1%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298442" y="56073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这批人自身的违约率</a:t>
              </a:r>
            </a:p>
          </p:txBody>
        </p:sp>
      </p:grpSp>
      <p:grpSp>
        <p:nvGrpSpPr>
          <p:cNvPr id="16" name="stat-top30"/>
          <p:cNvGrpSpPr/>
          <p:nvPr/>
        </p:nvGrpSpPr>
        <p:grpSpPr>
          <a:xfrm>
            <a:off x="7905750" y="4922520"/>
            <a:ext cx="2142211" cy="1047750"/>
            <a:chOff x="7905750" y="4922520"/>
            <a:chExt cx="2142211" cy="1047750"/>
          </a:xfrm>
        </p:grpSpPr>
        <p:sp>
          <p:nvSpPr>
            <p:cNvPr id="14" name="TextBox 14"/>
            <p:cNvSpPr txBox="1"/>
            <p:nvPr/>
          </p:nvSpPr>
          <p:spPr>
            <a:xfrm>
              <a:off x="7905750" y="4922520"/>
              <a:ext cx="2142211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spc="-75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54.6%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917942" y="5607368"/>
              <a:ext cx="20946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前 30% 覆盖的违约者占比</a:t>
              </a:r>
            </a:p>
          </p:txBody>
        </p:sp>
      </p:grpSp>
      <p:grpSp>
        <p:nvGrpSpPr>
          <p:cNvPr id="19" name="page-footer"/>
          <p:cNvGrpSpPr/>
          <p:nvPr/>
        </p:nvGrpSpPr>
        <p:grpSpPr>
          <a:xfrm>
            <a:off x="678942" y="6045518"/>
            <a:ext cx="10834116" cy="264033"/>
            <a:chOff x="678942" y="6045518"/>
            <a:chExt cx="10834116" cy="264033"/>
          </a:xfrm>
        </p:grpSpPr>
        <p:sp>
          <p:nvSpPr>
            <p:cNvPr id="17" name="TextBox 17"/>
            <p:cNvSpPr txBox="1"/>
            <p:nvPr/>
          </p:nvSpPr>
          <p:spPr>
            <a:xfrm>
              <a:off x="678942" y="6045518"/>
              <a:ext cx="70105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前 10% 是随机抽取的 2.41 倍；捕获率只看排序，与概率刻度无关。来源：报告 9.1 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890523" y="60455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10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670560" y="819150"/>
            <a:ext cx="10835640" cy="638175"/>
            <a:chOff x="670560" y="819150"/>
            <a:chExt cx="10835640" cy="638175"/>
          </a:xfrm>
        </p:grpSpPr>
        <p:sp>
          <p:nvSpPr>
            <p:cNvPr id="2" name="TextBox 2"/>
            <p:cNvSpPr txBox="1"/>
            <p:nvPr/>
          </p:nvSpPr>
          <p:spPr>
            <a:xfrm>
              <a:off x="670560" y="819150"/>
              <a:ext cx="960546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spc="-38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时间外验证：排序能力基本保持，概率刻度要重新标定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685800" y="14478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262C33"/>
              </a:solidFill>
            </a:ln>
          </p:spPr>
        </p:sp>
      </p:grpSp>
      <p:grpSp>
        <p:nvGrpSpPr>
          <p:cNvPr id="6" name="oot-why"/>
          <p:cNvGrpSpPr/>
          <p:nvPr/>
        </p:nvGrpSpPr>
        <p:grpSpPr>
          <a:xfrm>
            <a:off x="678942" y="1549718"/>
            <a:ext cx="10145554" cy="264033"/>
            <a:chOff x="678942" y="1549718"/>
            <a:chExt cx="10145554" cy="264033"/>
          </a:xfrm>
        </p:grpSpPr>
        <p:sp>
          <p:nvSpPr>
            <p:cNvPr id="5" name="TextBox 5"/>
            <p:cNvSpPr txBox="1"/>
            <p:nvPr/>
          </p:nvSpPr>
          <p:spPr>
            <a:xfrm>
              <a:off x="678942" y="1549718"/>
              <a:ext cx="101455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为什么切这一刀：随机切分把同一段行情分到两边，成绩偏乐观；按日期切（训练 66.5 万 / 评估 12.5 万）才是上线时的样子</a:t>
              </a:r>
            </a:p>
          </p:txBody>
        </p:sp>
      </p:grpSp>
      <p:grpSp>
        <p:nvGrpSpPr>
          <p:cNvPr id="9" name="oot-chart"/>
          <p:cNvGrpSpPr/>
          <p:nvPr/>
        </p:nvGrpSpPr>
        <p:grpSpPr>
          <a:xfrm>
            <a:off x="678942" y="1816418"/>
            <a:ext cx="5238655" cy="2898457"/>
            <a:chOff x="678942" y="1816418"/>
            <a:chExt cx="5238655" cy="2898457"/>
          </a:xfrm>
        </p:grpSpPr>
        <p:sp>
          <p:nvSpPr>
            <p:cNvPr id="7" name="TextBox 7"/>
            <p:cNvSpPr txBox="1"/>
            <p:nvPr/>
          </p:nvSpPr>
          <p:spPr>
            <a:xfrm>
              <a:off x="678942" y="1816418"/>
              <a:ext cx="52386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图 11-1｜按放款日期切：训练用 2016-12 前，测试用 2017 年起</a:t>
              </a:r>
            </a:p>
          </p:txBody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5800" y="2038350"/>
              <a:ext cx="4953000" cy="2676525"/>
            </a:xfrm>
            <a:prstGeom prst="rect">
              <a:avLst/>
            </a:prstGeom>
          </p:spPr>
        </p:pic>
      </p:grpSp>
      <p:grpSp>
        <p:nvGrpSpPr>
          <p:cNvPr id="13" name="calib-chart"/>
          <p:cNvGrpSpPr/>
          <p:nvPr/>
        </p:nvGrpSpPr>
        <p:grpSpPr>
          <a:xfrm>
            <a:off x="6281878" y="1805128"/>
            <a:ext cx="4957622" cy="2909747"/>
            <a:chOff x="6281878" y="1805128"/>
            <a:chExt cx="4957622" cy="2909747"/>
          </a:xfrm>
        </p:grpSpPr>
        <p:sp>
          <p:nvSpPr>
            <p:cNvPr id="10" name="Rectangle 10"/>
            <p:cNvSpPr/>
            <p:nvPr/>
          </p:nvSpPr>
          <p:spPr>
            <a:xfrm rot="2700000">
              <a:off x="6305550" y="1828800"/>
              <a:ext cx="114300" cy="114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565392" y="1816418"/>
              <a:ext cx="42845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图 11-2｜十分位：原始输出与实际违约率，逐组上升</a:t>
              </a:r>
            </a:p>
          </p:txBody>
        </p:sp>
        <p:pic>
          <p:nvPicPr>
            <p:cNvPr id="12" name="Image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86500" y="2038350"/>
              <a:ext cx="4953000" cy="2676525"/>
            </a:xfrm>
            <a:prstGeom prst="rect">
              <a:avLst/>
            </a:prstGeom>
          </p:spPr>
        </p:pic>
      </p:grpSp>
      <p:grpSp>
        <p:nvGrpSpPr>
          <p:cNvPr id="17" name="oot-reading"/>
          <p:cNvGrpSpPr/>
          <p:nvPr/>
        </p:nvGrpSpPr>
        <p:grpSpPr>
          <a:xfrm>
            <a:off x="676656" y="4902518"/>
            <a:ext cx="2625974" cy="1045083"/>
            <a:chOff x="676656" y="4902518"/>
            <a:chExt cx="2625974" cy="1045083"/>
          </a:xfrm>
        </p:grpSpPr>
        <p:sp>
          <p:nvSpPr>
            <p:cNvPr id="14" name="TextBox 14"/>
            <p:cNvSpPr txBox="1"/>
            <p:nvPr/>
          </p:nvSpPr>
          <p:spPr>
            <a:xfrm>
              <a:off x="678942" y="49025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排序能力：基本保持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76656" y="5196840"/>
              <a:ext cx="26259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AUC 0.7279 → 0.7184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78942" y="5474018"/>
              <a:ext cx="2379726" cy="473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KS 0.3300 → 0.3190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前 10% 捕获率 24.1% → 21.7%</a:t>
              </a:r>
            </a:p>
          </p:txBody>
        </p:sp>
      </p:grpSp>
      <p:grpSp>
        <p:nvGrpSpPr>
          <p:cNvPr id="21" name="drift-reading"/>
          <p:cNvGrpSpPr/>
          <p:nvPr/>
        </p:nvGrpSpPr>
        <p:grpSpPr>
          <a:xfrm>
            <a:off x="6277356" y="4902518"/>
            <a:ext cx="5150072" cy="835533"/>
            <a:chOff x="6277356" y="4902518"/>
            <a:chExt cx="5150072" cy="835533"/>
          </a:xfrm>
        </p:grpSpPr>
        <p:sp>
          <p:nvSpPr>
            <p:cNvPr id="18" name="TextBox 18"/>
            <p:cNvSpPr txBox="1"/>
            <p:nvPr/>
          </p:nvSpPr>
          <p:spPr>
            <a:xfrm>
              <a:off x="6279642" y="49025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概率刻度：未跟上行情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277356" y="5196840"/>
              <a:ext cx="261531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违约率 19.9% → 22.3%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279642" y="5474018"/>
              <a:ext cx="51477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模型平均输出 0.450 → 0.459；0.5 线拒人比例 41.9% → 43.9%</a:t>
              </a:r>
            </a:p>
          </p:txBody>
        </p:sp>
      </p:grpSp>
      <p:grpSp>
        <p:nvGrpSpPr>
          <p:cNvPr id="24" name="page-footer"/>
          <p:cNvGrpSpPr/>
          <p:nvPr/>
        </p:nvGrpSpPr>
        <p:grpSpPr>
          <a:xfrm>
            <a:off x="678942" y="6045518"/>
            <a:ext cx="10834116" cy="264033"/>
            <a:chOff x="678942" y="6045518"/>
            <a:chExt cx="10834116" cy="264033"/>
          </a:xfrm>
        </p:grpSpPr>
        <p:sp>
          <p:nvSpPr>
            <p:cNvPr id="22" name="TextBox 22"/>
            <p:cNvSpPr txBox="1"/>
            <p:nvPr/>
          </p:nvSpPr>
          <p:spPr>
            <a:xfrm>
              <a:off x="678942" y="6045518"/>
              <a:ext cx="93731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读法：0.7279 是本套切分的随机对照，与第 9 页测试集不是同一批样本；2018-07 后 8,980 笔已剔除｜报告 9.6 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890523" y="60455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11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ption-tag"/>
          <p:cNvGrpSpPr/>
          <p:nvPr/>
        </p:nvGrpSpPr>
        <p:grpSpPr>
          <a:xfrm>
            <a:off x="678942" y="559118"/>
            <a:ext cx="1002686" cy="264033"/>
            <a:chOff x="678942" y="559118"/>
            <a:chExt cx="1002686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78942" y="559118"/>
              <a:ext cx="10026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放贷方案 ①</a:t>
              </a:r>
            </a:p>
          </p:txBody>
        </p:sp>
      </p:grpSp>
      <p:grpSp>
        <p:nvGrpSpPr>
          <p:cNvPr id="6" name="page-title"/>
          <p:cNvGrpSpPr/>
          <p:nvPr/>
        </p:nvGrpSpPr>
        <p:grpSpPr>
          <a:xfrm>
            <a:off x="670560" y="819150"/>
            <a:ext cx="10835640" cy="638175"/>
            <a:chOff x="670560" y="819150"/>
            <a:chExt cx="10835640" cy="638175"/>
          </a:xfrm>
        </p:grpSpPr>
        <p:sp>
          <p:nvSpPr>
            <p:cNvPr id="4" name="TextBox 4"/>
            <p:cNvSpPr txBox="1"/>
            <p:nvPr/>
          </p:nvSpPr>
          <p:spPr>
            <a:xfrm>
              <a:off x="670560" y="819150"/>
              <a:ext cx="767875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spc="-38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单线扫描：一条线管所有人，0.553 处最赚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85800" y="14478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262C33"/>
              </a:solidFill>
            </a:ln>
          </p:spPr>
        </p:sp>
      </p:grpSp>
      <p:grpSp>
        <p:nvGrpSpPr>
          <p:cNvPr id="8" name="scale-rule"/>
          <p:cNvGrpSpPr/>
          <p:nvPr/>
        </p:nvGrpSpPr>
        <p:grpSpPr>
          <a:xfrm>
            <a:off x="678942" y="1606868"/>
            <a:ext cx="9118740" cy="264033"/>
            <a:chOff x="678942" y="1606868"/>
            <a:chExt cx="9118740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678942" y="1606868"/>
              <a:ext cx="91187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审批线是一条概率门槛，达到线的人拒贷。放贷方案有两个，本页是方案①：全批设一条线；方案②按每笔的账定线</a:t>
              </a:r>
            </a:p>
          </p:txBody>
        </p:sp>
      </p:grpSp>
      <p:grpSp>
        <p:nvGrpSpPr>
          <p:cNvPr id="10" name="caption-sweep"/>
          <p:cNvGrpSpPr/>
          <p:nvPr/>
        </p:nvGrpSpPr>
        <p:grpSpPr>
          <a:xfrm>
            <a:off x="678942" y="1902142"/>
            <a:ext cx="9191434" cy="264033"/>
            <a:chOff x="678942" y="1902142"/>
            <a:chExt cx="9191434" cy="264033"/>
          </a:xfrm>
        </p:grpSpPr>
        <p:sp>
          <p:nvSpPr>
            <p:cNvPr id="9" name="TextBox 9"/>
            <p:cNvSpPr txBox="1"/>
            <p:nvPr/>
          </p:nvSpPr>
          <p:spPr>
            <a:xfrm>
              <a:off x="678942" y="1902142"/>
              <a:ext cx="91914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图 12-1｜阈值扫描：白线为拦截率（真违约里被拦下的比例），橙线为被拒者精确率（被拒的人里真违约的比例）</a:t>
              </a:r>
            </a:p>
          </p:txBody>
        </p:sp>
      </p:grpSp>
      <p:grpSp>
        <p:nvGrpSpPr>
          <p:cNvPr id="12" name="chart-sweep"/>
          <p:cNvGrpSpPr/>
          <p:nvPr/>
        </p:nvGrpSpPr>
        <p:grpSpPr>
          <a:xfrm>
            <a:off x="970547" y="2152650"/>
            <a:ext cx="10250905" cy="1714500"/>
            <a:chOff x="970547" y="2152650"/>
            <a:chExt cx="10250905" cy="1714500"/>
          </a:xfrm>
        </p:grpSpPr>
        <p:pic>
          <p:nvPicPr>
            <p:cNvPr id="11" name="Image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70547" y="2152650"/>
              <a:ext cx="10250905" cy="1714500"/>
            </a:xfrm>
            <a:prstGeom prst="rect">
              <a:avLst/>
            </a:prstGeom>
          </p:spPr>
        </p:pic>
      </p:grpSp>
      <p:grpSp>
        <p:nvGrpSpPr>
          <p:cNvPr id="14" name="caption-money"/>
          <p:cNvGrpSpPr/>
          <p:nvPr/>
        </p:nvGrpSpPr>
        <p:grpSpPr>
          <a:xfrm>
            <a:off x="678942" y="3940492"/>
            <a:ext cx="10000164" cy="264033"/>
            <a:chOff x="678942" y="3940492"/>
            <a:chExt cx="10000164" cy="264033"/>
          </a:xfrm>
        </p:grpSpPr>
        <p:sp>
          <p:nvSpPr>
            <p:cNvPr id="13" name="TextBox 13"/>
            <p:cNvSpPr txBox="1"/>
            <p:nvPr/>
          </p:nvSpPr>
          <p:spPr>
            <a:xfrm>
              <a:off x="678942" y="3940492"/>
              <a:ext cx="100001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图 12-2｜阈值与金额：0.553 处比全放多 4,157 万元（回看，要数历史答案，用来挑线）、4,259 万元（期望，线上能算）</a:t>
              </a:r>
            </a:p>
          </p:txBody>
        </p:sp>
      </p:grpSp>
      <p:grpSp>
        <p:nvGrpSpPr>
          <p:cNvPr id="16" name="chart-money"/>
          <p:cNvGrpSpPr/>
          <p:nvPr/>
        </p:nvGrpSpPr>
        <p:grpSpPr>
          <a:xfrm>
            <a:off x="685800" y="4191000"/>
            <a:ext cx="10820400" cy="1714500"/>
            <a:chOff x="685800" y="4191000"/>
            <a:chExt cx="10820400" cy="1714500"/>
          </a:xfrm>
        </p:grpSpPr>
        <p:pic>
          <p:nvPicPr>
            <p:cNvPr id="15" name="Image 1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5800" y="4191000"/>
              <a:ext cx="10820400" cy="1714500"/>
            </a:xfrm>
            <a:prstGeom prst="rect">
              <a:avLst/>
            </a:prstGeom>
          </p:spPr>
        </p:pic>
      </p:grpSp>
      <p:grpSp>
        <p:nvGrpSpPr>
          <p:cNvPr id="19" name="page-footer"/>
          <p:cNvGrpSpPr/>
          <p:nvPr/>
        </p:nvGrpSpPr>
        <p:grpSpPr>
          <a:xfrm>
            <a:off x="678942" y="6045518"/>
            <a:ext cx="10834116" cy="264033"/>
            <a:chOff x="678942" y="6045518"/>
            <a:chExt cx="10834116" cy="264033"/>
          </a:xfrm>
        </p:grpSpPr>
        <p:sp>
          <p:nvSpPr>
            <p:cNvPr id="17" name="TextBox 17"/>
            <p:cNvSpPr txBox="1"/>
            <p:nvPr/>
          </p:nvSpPr>
          <p:spPr>
            <a:xfrm>
              <a:off x="678942" y="6045518"/>
              <a:ext cx="92913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期望口径：全放 2,085 万元；0.50 拒 33,041 人 6,155 万元；0.553 最赚 6,344 万元。来源：报告 10.1–10.2 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890523" y="60455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12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ption-tag"/>
          <p:cNvGrpSpPr/>
          <p:nvPr/>
        </p:nvGrpSpPr>
        <p:grpSpPr>
          <a:xfrm>
            <a:off x="678942" y="559118"/>
            <a:ext cx="1002686" cy="264033"/>
            <a:chOff x="678942" y="559118"/>
            <a:chExt cx="1002686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78942" y="559118"/>
              <a:ext cx="10026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放贷方案 ②</a:t>
              </a:r>
            </a:p>
          </p:txBody>
        </p:sp>
      </p:grpSp>
      <p:grpSp>
        <p:nvGrpSpPr>
          <p:cNvPr id="6" name="page-title"/>
          <p:cNvGrpSpPr/>
          <p:nvPr/>
        </p:nvGrpSpPr>
        <p:grpSpPr>
          <a:xfrm>
            <a:off x="670560" y="819150"/>
            <a:ext cx="10835640" cy="638175"/>
            <a:chOff x="670560" y="819150"/>
            <a:chExt cx="10835640" cy="638175"/>
          </a:xfrm>
        </p:grpSpPr>
        <p:sp>
          <p:nvSpPr>
            <p:cNvPr id="4" name="TextBox 4"/>
            <p:cNvSpPr txBox="1"/>
            <p:nvPr/>
          </p:nvSpPr>
          <p:spPr>
            <a:xfrm>
              <a:off x="670560" y="819150"/>
              <a:ext cx="99845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spc="-38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按期限定线：逐笔期望利润，3 年期 0.50、5 年期 0.62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85800" y="14478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262C33"/>
              </a:solidFill>
            </a:ln>
          </p:spPr>
        </p:sp>
      </p:grpSp>
      <p:grpSp>
        <p:nvGrpSpPr>
          <p:cNvPr id="9" name="formula"/>
          <p:cNvGrpSpPr/>
          <p:nvPr/>
        </p:nvGrpSpPr>
        <p:grpSpPr>
          <a:xfrm>
            <a:off x="676656" y="1710690"/>
            <a:ext cx="8862822" cy="617411"/>
            <a:chOff x="676656" y="1710690"/>
            <a:chExt cx="8862822" cy="617411"/>
          </a:xfrm>
        </p:grpSpPr>
        <p:sp>
          <p:nvSpPr>
            <p:cNvPr id="7" name="TextBox 7"/>
            <p:cNvSpPr txBox="1"/>
            <p:nvPr/>
          </p:nvSpPr>
          <p:spPr>
            <a:xfrm>
              <a:off x="676656" y="1710690"/>
              <a:ext cx="88628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每 1 元贷款的期望利润 =（1 − p）× 净息差 × 期限 − p ×（1 − 回收率），为正就批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78942" y="2064068"/>
              <a:ext cx="78374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从每笔自己的账出发：金额按校准概率逐笔算，不用事后结果；净息差 6%、回收率 30% 为模拟值</a:t>
              </a:r>
            </a:p>
          </p:txBody>
        </p:sp>
      </p:grpSp>
      <p:grpSp>
        <p:nvGrpSpPr>
          <p:cNvPr id="11" name="rule-result"/>
          <p:cNvGrpSpPr/>
          <p:nvPr/>
        </p:nvGrpSpPr>
        <p:grpSpPr>
          <a:xfrm>
            <a:off x="676656" y="2434590"/>
            <a:ext cx="3725723" cy="352044"/>
            <a:chOff x="676656" y="2434590"/>
            <a:chExt cx="3725723" cy="352044"/>
          </a:xfrm>
        </p:grpSpPr>
        <p:sp>
          <p:nvSpPr>
            <p:cNvPr id="10" name="TextBox 10"/>
            <p:cNvSpPr txBox="1"/>
            <p:nvPr/>
          </p:nvSpPr>
          <p:spPr>
            <a:xfrm>
              <a:off x="676656" y="2434590"/>
              <a:ext cx="372572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本批只有 3 年期与 5 年期两种贷款</a:t>
              </a:r>
            </a:p>
          </p:txBody>
        </p:sp>
      </p:grpSp>
      <p:grpSp>
        <p:nvGrpSpPr>
          <p:cNvPr id="15" name="line-3y"/>
          <p:cNvGrpSpPr/>
          <p:nvPr/>
        </p:nvGrpSpPr>
        <p:grpSpPr>
          <a:xfrm>
            <a:off x="670560" y="2910840"/>
            <a:ext cx="3629577" cy="1093661"/>
            <a:chOff x="670560" y="2910840"/>
            <a:chExt cx="3629577" cy="1093661"/>
          </a:xfrm>
        </p:grpSpPr>
        <p:sp>
          <p:nvSpPr>
            <p:cNvPr id="12" name="TextBox 12"/>
            <p:cNvSpPr txBox="1"/>
            <p:nvPr/>
          </p:nvSpPr>
          <p:spPr>
            <a:xfrm>
              <a:off x="676656" y="2910840"/>
              <a:ext cx="71918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 年期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0560" y="3276600"/>
              <a:ext cx="273927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spc="-38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阈值 ≥ 0.50 拒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8942" y="3740468"/>
              <a:ext cx="36211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校准概率轴 0.2045；这批人平均利率 12.1%</a:t>
              </a:r>
            </a:p>
          </p:txBody>
        </p:sp>
      </p:grpSp>
      <p:grpSp>
        <p:nvGrpSpPr>
          <p:cNvPr id="19" name="line-5y"/>
          <p:cNvGrpSpPr/>
          <p:nvPr/>
        </p:nvGrpSpPr>
        <p:grpSpPr>
          <a:xfrm>
            <a:off x="670560" y="4244340"/>
            <a:ext cx="3629577" cy="1093661"/>
            <a:chOff x="670560" y="4244340"/>
            <a:chExt cx="3629577" cy="1093661"/>
          </a:xfrm>
        </p:grpSpPr>
        <p:sp>
          <p:nvSpPr>
            <p:cNvPr id="16" name="TextBox 16"/>
            <p:cNvSpPr txBox="1"/>
            <p:nvPr/>
          </p:nvSpPr>
          <p:spPr>
            <a:xfrm>
              <a:off x="676656" y="4244340"/>
              <a:ext cx="71918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5 年期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70560" y="4610100"/>
              <a:ext cx="273927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spc="-38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阈值 ≥ 0.62 拒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78942" y="5073968"/>
              <a:ext cx="36211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校准概率轴 0.3000；这批人平均利率 16.8%</a:t>
              </a:r>
            </a:p>
          </p:txBody>
        </p:sp>
      </p:grpSp>
      <p:grpSp>
        <p:nvGrpSpPr>
          <p:cNvPr id="21" name="outcome"/>
          <p:cNvGrpSpPr/>
          <p:nvPr/>
        </p:nvGrpSpPr>
        <p:grpSpPr>
          <a:xfrm>
            <a:off x="678942" y="5454968"/>
            <a:ext cx="3717036" cy="511683"/>
            <a:chOff x="678942" y="5454968"/>
            <a:chExt cx="3717036" cy="511683"/>
          </a:xfrm>
        </p:grpSpPr>
        <p:sp>
          <p:nvSpPr>
            <p:cNvPr id="20" name="TextBox 20"/>
            <p:cNvSpPr txBox="1"/>
            <p:nvPr/>
          </p:nvSpPr>
          <p:spPr>
            <a:xfrm>
              <a:off x="678942" y="5454968"/>
              <a:ext cx="371703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拒 28,078 人（35.2%）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期望利润 6,611 万元，比最优单一线多 267 万元</a:t>
              </a:r>
            </a:p>
          </p:txBody>
        </p:sp>
      </p:grpSp>
      <p:grpSp>
        <p:nvGrpSpPr>
          <p:cNvPr id="24" name="sensitivity-chart"/>
          <p:cNvGrpSpPr/>
          <p:nvPr/>
        </p:nvGrpSpPr>
        <p:grpSpPr>
          <a:xfrm>
            <a:off x="6279642" y="2711768"/>
            <a:ext cx="5226558" cy="3193732"/>
            <a:chOff x="6279642" y="2711768"/>
            <a:chExt cx="5226558" cy="3193732"/>
          </a:xfrm>
        </p:grpSpPr>
        <p:sp>
          <p:nvSpPr>
            <p:cNvPr id="22" name="TextBox 22"/>
            <p:cNvSpPr txBox="1"/>
            <p:nvPr/>
          </p:nvSpPr>
          <p:spPr>
            <a:xfrm>
              <a:off x="6279642" y="2711768"/>
              <a:ext cx="33758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图 13-1｜换口径后这套规则会拒掉多少人</a:t>
              </a:r>
            </a:p>
          </p:txBody>
        </p:sp>
        <p:pic>
          <p:nvPicPr>
            <p:cNvPr id="23" name="Image 2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86500" y="2952750"/>
              <a:ext cx="5219700" cy="2952750"/>
            </a:xfrm>
            <a:prstGeom prst="rect">
              <a:avLst/>
            </a:prstGeom>
          </p:spPr>
        </p:pic>
      </p:grpSp>
      <p:grpSp>
        <p:nvGrpSpPr>
          <p:cNvPr id="27" name="page-footer"/>
          <p:cNvGrpSpPr/>
          <p:nvPr/>
        </p:nvGrpSpPr>
        <p:grpSpPr>
          <a:xfrm>
            <a:off x="678942" y="6045518"/>
            <a:ext cx="10834116" cy="264033"/>
            <a:chOff x="678942" y="6045518"/>
            <a:chExt cx="10834116" cy="264033"/>
          </a:xfrm>
        </p:grpSpPr>
        <p:sp>
          <p:nvSpPr>
            <p:cNvPr id="25" name="TextBox 25"/>
            <p:cNvSpPr txBox="1"/>
            <p:nvPr/>
          </p:nvSpPr>
          <p:spPr>
            <a:xfrm>
              <a:off x="678942" y="6045518"/>
              <a:ext cx="87643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同一把尺子：期望利润 6,611 vs 单线 6,344 万元，多 267 万元；代价是出两张评分表。来源：报告 10.2 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890523" y="60455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13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ption-tag"/>
          <p:cNvGrpSpPr/>
          <p:nvPr/>
        </p:nvGrpSpPr>
        <p:grpSpPr>
          <a:xfrm>
            <a:off x="678942" y="559118"/>
            <a:ext cx="1405403" cy="264033"/>
            <a:chOff x="678942" y="559118"/>
            <a:chExt cx="1405403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78942" y="559118"/>
              <a:ext cx="14054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方案② 执行细节</a:t>
              </a:r>
            </a:p>
          </p:txBody>
        </p:sp>
      </p:grpSp>
      <p:grpSp>
        <p:nvGrpSpPr>
          <p:cNvPr id="6" name="page-title"/>
          <p:cNvGrpSpPr/>
          <p:nvPr/>
        </p:nvGrpSpPr>
        <p:grpSpPr>
          <a:xfrm>
            <a:off x="670560" y="819150"/>
            <a:ext cx="10835640" cy="638175"/>
            <a:chOff x="670560" y="819150"/>
            <a:chExt cx="10835640" cy="638175"/>
          </a:xfrm>
        </p:grpSpPr>
        <p:sp>
          <p:nvSpPr>
            <p:cNvPr id="4" name="TextBox 4"/>
            <p:cNvSpPr txBox="1"/>
            <p:nvPr/>
          </p:nvSpPr>
          <p:spPr>
            <a:xfrm>
              <a:off x="670560" y="819150"/>
              <a:ext cx="10421435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spc="-38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落地形态：被判拒的 28,078 人不全拒，贴线的转人工复审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85800" y="14478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262C33"/>
              </a:solidFill>
            </a:ln>
          </p:spPr>
        </p:sp>
      </p:grpSp>
      <p:grpSp>
        <p:nvGrpSpPr>
          <p:cNvPr id="8" name="scale-rule"/>
          <p:cNvGrpSpPr/>
          <p:nvPr/>
        </p:nvGrpSpPr>
        <p:grpSpPr>
          <a:xfrm>
            <a:off x="678942" y="1587818"/>
            <a:ext cx="7510367" cy="264033"/>
            <a:chOff x="678942" y="1587818"/>
            <a:chExt cx="7510367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678942" y="1587818"/>
              <a:ext cx="75103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规则不动，改的是拒掉的人怎么办：贴线的 8,697 人转人工复审，更上面的 19,381 人直接拒</a:t>
              </a:r>
            </a:p>
          </p:txBody>
        </p:sp>
      </p:grpSp>
      <p:grpSp>
        <p:nvGrpSpPr>
          <p:cNvPr id="12" name="segment-labels"/>
          <p:cNvGrpSpPr/>
          <p:nvPr/>
        </p:nvGrpSpPr>
        <p:grpSpPr>
          <a:xfrm>
            <a:off x="678942" y="1892618"/>
            <a:ext cx="9713309" cy="264033"/>
            <a:chOff x="678942" y="1892618"/>
            <a:chExt cx="9713309" cy="264033"/>
          </a:xfrm>
        </p:grpSpPr>
        <p:sp>
          <p:nvSpPr>
            <p:cNvPr id="9" name="TextBox 9"/>
            <p:cNvSpPr txBox="1"/>
            <p:nvPr/>
          </p:nvSpPr>
          <p:spPr>
            <a:xfrm>
              <a:off x="678942" y="1892618"/>
              <a:ext cx="13313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直接放行 64.8%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495699" y="1892618"/>
              <a:ext cx="13313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人工复审 10.9%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060942" y="1892618"/>
              <a:ext cx="13313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直接拒绝 24.3%</a:t>
              </a:r>
            </a:p>
          </p:txBody>
        </p:sp>
      </p:grpSp>
      <p:grpSp>
        <p:nvGrpSpPr>
          <p:cNvPr id="16" name="segment-band"/>
          <p:cNvGrpSpPr/>
          <p:nvPr/>
        </p:nvGrpSpPr>
        <p:grpSpPr>
          <a:xfrm>
            <a:off x="685800" y="2133600"/>
            <a:ext cx="10820400" cy="495300"/>
            <a:chOff x="685800" y="2133600"/>
            <a:chExt cx="10820400" cy="495300"/>
          </a:xfrm>
        </p:grpSpPr>
        <p:sp>
          <p:nvSpPr>
            <p:cNvPr id="13" name="Rectangle 13"/>
            <p:cNvSpPr/>
            <p:nvPr/>
          </p:nvSpPr>
          <p:spPr>
            <a:xfrm>
              <a:off x="685800" y="2133600"/>
              <a:ext cx="7010400" cy="495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696200" y="2133600"/>
              <a:ext cx="1181100" cy="495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8877300" y="2133600"/>
              <a:ext cx="2628900" cy="49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</p:grpSp>
      <p:grpSp>
        <p:nvGrpSpPr>
          <p:cNvPr id="38" name="segment-table"/>
          <p:cNvGrpSpPr/>
          <p:nvPr/>
        </p:nvGrpSpPr>
        <p:grpSpPr>
          <a:xfrm>
            <a:off x="676656" y="2768918"/>
            <a:ext cx="10829544" cy="2169033"/>
            <a:chOff x="676656" y="2768918"/>
            <a:chExt cx="10829544" cy="2169033"/>
          </a:xfrm>
        </p:grpSpPr>
        <p:sp>
          <p:nvSpPr>
            <p:cNvPr id="17" name="TextBox 17"/>
            <p:cNvSpPr txBox="1"/>
            <p:nvPr/>
          </p:nvSpPr>
          <p:spPr>
            <a:xfrm>
              <a:off x="678942" y="27689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分工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898642" y="27689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人数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994142" y="27689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占测试集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518142" y="27689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该段模型预估违约率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685800" y="30670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685800" y="36385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262C33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685800" y="4076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262C33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685800" y="45148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262C33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76656" y="32918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直接放行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896356" y="3291840"/>
              <a:ext cx="81793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51,772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991856" y="3291840"/>
              <a:ext cx="7331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64.8%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515856" y="3291840"/>
              <a:ext cx="7331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12.1%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76656" y="37299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人工复审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896356" y="3729990"/>
              <a:ext cx="71797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8,697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991856" y="3729990"/>
              <a:ext cx="7688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10.9%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515856" y="3729990"/>
              <a:ext cx="7688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25.9%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76656" y="41681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直接拒绝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896356" y="4168140"/>
              <a:ext cx="81793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19,381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991856" y="4168140"/>
              <a:ext cx="7331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24.3%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515856" y="4168140"/>
              <a:ext cx="7331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38.2%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78942" y="4673918"/>
              <a:ext cx="55930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复审带取线上方 20% 以内，占被拒人数的 31.0%；带宽按复核产能调</a:t>
              </a:r>
            </a:p>
          </p:txBody>
        </p:sp>
      </p:grpSp>
      <p:grpSp>
        <p:nvGrpSpPr>
          <p:cNvPr id="41" name="next-steps"/>
          <p:cNvGrpSpPr/>
          <p:nvPr/>
        </p:nvGrpSpPr>
        <p:grpSpPr>
          <a:xfrm>
            <a:off x="685800" y="5200650"/>
            <a:ext cx="10820400" cy="609600"/>
            <a:chOff x="685800" y="5200650"/>
            <a:chExt cx="10820400" cy="609600"/>
          </a:xfrm>
        </p:grpSpPr>
        <p:sp>
          <p:nvSpPr>
            <p:cNvPr id="39" name="Rectangle 39"/>
            <p:cNvSpPr/>
            <p:nvPr/>
          </p:nvSpPr>
          <p:spPr>
            <a:xfrm>
              <a:off x="685800" y="5200650"/>
              <a:ext cx="10820400" cy="609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81456" y="5387340"/>
              <a:ext cx="87416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贴线的人模型最没底，又可能藏着被误拒的好客户，业务上不自动拒、转人工复审</a:t>
              </a:r>
            </a:p>
          </p:txBody>
        </p:sp>
      </p:grpSp>
      <p:grpSp>
        <p:nvGrpSpPr>
          <p:cNvPr id="44" name="page-footer"/>
          <p:cNvGrpSpPr/>
          <p:nvPr/>
        </p:nvGrpSpPr>
        <p:grpSpPr>
          <a:xfrm>
            <a:off x="678942" y="6045518"/>
            <a:ext cx="10834116" cy="264033"/>
            <a:chOff x="678942" y="6045518"/>
            <a:chExt cx="10834116" cy="264033"/>
          </a:xfrm>
        </p:grpSpPr>
        <p:sp>
          <p:nvSpPr>
            <p:cNvPr id="42" name="TextBox 42"/>
            <p:cNvSpPr txBox="1"/>
            <p:nvPr/>
          </p:nvSpPr>
          <p:spPr>
            <a:xfrm>
              <a:off x="678942" y="6045518"/>
              <a:ext cx="93095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上线后重做两件事：概率轴重标定、按月滚动重训；带宽是政策，放宽到 30% 复审 12,381 人。来源：报告 10.3 节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890523" y="60455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14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670560" y="819150"/>
            <a:ext cx="10835640" cy="638175"/>
            <a:chOff x="670560" y="819150"/>
            <a:chExt cx="10835640" cy="638175"/>
          </a:xfrm>
        </p:grpSpPr>
        <p:sp>
          <p:nvSpPr>
            <p:cNvPr id="2" name="TextBox 2"/>
            <p:cNvSpPr txBox="1"/>
            <p:nvPr/>
          </p:nvSpPr>
          <p:spPr>
            <a:xfrm>
              <a:off x="670560" y="819150"/>
              <a:ext cx="7212995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spc="-38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上线前提：真实财务口径与被拒人群观测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685800" y="14478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262C33"/>
              </a:solidFill>
            </a:ln>
          </p:spPr>
        </p:sp>
      </p:grpSp>
      <p:grpSp>
        <p:nvGrpSpPr>
          <p:cNvPr id="6" name="limits-head"/>
          <p:cNvGrpSpPr/>
          <p:nvPr/>
        </p:nvGrpSpPr>
        <p:grpSpPr>
          <a:xfrm>
            <a:off x="676656" y="1710690"/>
            <a:ext cx="987552" cy="352044"/>
            <a:chOff x="676656" y="1710690"/>
            <a:chExt cx="987552" cy="352044"/>
          </a:xfrm>
        </p:grpSpPr>
        <p:sp>
          <p:nvSpPr>
            <p:cNvPr id="5" name="TextBox 5"/>
            <p:cNvSpPr txBox="1"/>
            <p:nvPr/>
          </p:nvSpPr>
          <p:spPr>
            <a:xfrm>
              <a:off x="676656" y="17106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三类局限</a:t>
              </a:r>
            </a:p>
          </p:txBody>
        </p:sp>
      </p:grpSp>
      <p:grpSp>
        <p:nvGrpSpPr>
          <p:cNvPr id="9" name="limit-data"/>
          <p:cNvGrpSpPr/>
          <p:nvPr/>
        </p:nvGrpSpPr>
        <p:grpSpPr>
          <a:xfrm>
            <a:off x="676656" y="2205990"/>
            <a:ext cx="4027932" cy="1074611"/>
            <a:chOff x="676656" y="2205990"/>
            <a:chExt cx="4027932" cy="1074611"/>
          </a:xfrm>
        </p:grpSpPr>
        <p:sp>
          <p:nvSpPr>
            <p:cNvPr id="7" name="TextBox 7"/>
            <p:cNvSpPr txBox="1"/>
            <p:nvPr/>
          </p:nvSpPr>
          <p:spPr>
            <a:xfrm>
              <a:off x="676656" y="220599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数据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78942" y="2559368"/>
              <a:ext cx="4025646" cy="7212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样本违约率 19.95%，高于真实客群（通常低于 5%）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n0 到 n14 有信号但没有业务含义，监管上难解释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只有一期数据，时间外验证只切了一刀</a:t>
              </a:r>
            </a:p>
          </p:txBody>
        </p:sp>
      </p:grpSp>
      <p:grpSp>
        <p:nvGrpSpPr>
          <p:cNvPr id="12" name="limit-model"/>
          <p:cNvGrpSpPr/>
          <p:nvPr/>
        </p:nvGrpSpPr>
        <p:grpSpPr>
          <a:xfrm>
            <a:off x="676656" y="3539490"/>
            <a:ext cx="3196399" cy="1074611"/>
            <a:chOff x="676656" y="3539490"/>
            <a:chExt cx="3196399" cy="1074611"/>
          </a:xfrm>
        </p:grpSpPr>
        <p:sp>
          <p:nvSpPr>
            <p:cNvPr id="10" name="TextBox 10"/>
            <p:cNvSpPr txBox="1"/>
            <p:nvPr/>
          </p:nvSpPr>
          <p:spPr>
            <a:xfrm>
              <a:off x="676656" y="353949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模型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78942" y="3892868"/>
              <a:ext cx="3194113" cy="7212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AUC 0.7249 适合排序初筛与辅助人工审核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金额里的「避免的坏账」始终是估计值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金额只属于这一批，能搬走的是排序与线</a:t>
              </a:r>
            </a:p>
          </p:txBody>
        </p:sp>
      </p:grpSp>
      <p:grpSp>
        <p:nvGrpSpPr>
          <p:cNvPr id="15" name="limit-observation"/>
          <p:cNvGrpSpPr/>
          <p:nvPr/>
        </p:nvGrpSpPr>
        <p:grpSpPr>
          <a:xfrm>
            <a:off x="676656" y="4606290"/>
            <a:ext cx="3650742" cy="503111"/>
            <a:chOff x="676656" y="4606290"/>
            <a:chExt cx="3650742" cy="503111"/>
          </a:xfrm>
        </p:grpSpPr>
        <p:sp>
          <p:nvSpPr>
            <p:cNvPr id="13" name="TextBox 13"/>
            <p:cNvSpPr txBox="1"/>
            <p:nvPr/>
          </p:nvSpPr>
          <p:spPr>
            <a:xfrm>
              <a:off x="676656" y="46062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业务观测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8942" y="4845368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被拒客户后来能不能还上，模型永远观测不到</a:t>
              </a:r>
            </a:p>
          </p:txBody>
        </p:sp>
      </p:grpSp>
      <p:grpSp>
        <p:nvGrpSpPr>
          <p:cNvPr id="17" name="column-divider"/>
          <p:cNvGrpSpPr/>
          <p:nvPr/>
        </p:nvGrpSpPr>
        <p:grpSpPr>
          <a:xfrm>
            <a:off x="6286500" y="1714500"/>
            <a:ext cx="9525" cy="3238500"/>
            <a:chOff x="6286500" y="1714500"/>
            <a:chExt cx="9525" cy="3238500"/>
          </a:xfrm>
        </p:grpSpPr>
        <p:sp>
          <p:nvSpPr>
            <p:cNvPr id="16" name="Line 16"/>
            <p:cNvSpPr/>
            <p:nvPr/>
          </p:nvSpPr>
          <p:spPr>
            <a:xfrm>
              <a:off x="6286500" y="1714500"/>
              <a:ext cx="9525" cy="3238500"/>
            </a:xfrm>
            <a:custGeom>
              <a:avLst/>
              <a:gdLst/>
              <a:ahLst/>
              <a:cxnLst/>
              <a:rect l="l" t="t" r="r" b="b"/>
              <a:pathLst>
                <a:path w="9525" h="3238500">
                  <a:moveTo>
                    <a:pt x="0" y="0"/>
                  </a:moveTo>
                  <a:lnTo>
                    <a:pt x="0" y="3238500"/>
                  </a:lnTo>
                </a:path>
              </a:pathLst>
            </a:custGeom>
            <a:noFill/>
            <a:ln w="9525">
              <a:solidFill>
                <a:srgbClr val="262C33"/>
              </a:solidFill>
            </a:ln>
          </p:spPr>
        </p:sp>
      </p:grpSp>
      <p:grpSp>
        <p:nvGrpSpPr>
          <p:cNvPr id="19" name="next-head"/>
          <p:cNvGrpSpPr/>
          <p:nvPr/>
        </p:nvGrpSpPr>
        <p:grpSpPr>
          <a:xfrm>
            <a:off x="6658356" y="1710690"/>
            <a:ext cx="1714500" cy="352044"/>
            <a:chOff x="6658356" y="1710690"/>
            <a:chExt cx="1714500" cy="352044"/>
          </a:xfrm>
        </p:grpSpPr>
        <p:sp>
          <p:nvSpPr>
            <p:cNvPr id="18" name="TextBox 18"/>
            <p:cNvSpPr txBox="1"/>
            <p:nvPr/>
          </p:nvSpPr>
          <p:spPr>
            <a:xfrm>
              <a:off x="6658356" y="171069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下一步（四条）</a:t>
              </a:r>
            </a:p>
          </p:txBody>
        </p:sp>
      </p:grpSp>
      <p:grpSp>
        <p:nvGrpSpPr>
          <p:cNvPr id="25" name="next-list"/>
          <p:cNvGrpSpPr/>
          <p:nvPr/>
        </p:nvGrpSpPr>
        <p:grpSpPr>
          <a:xfrm>
            <a:off x="6658356" y="2320290"/>
            <a:ext cx="4343629" cy="2503361"/>
            <a:chOff x="6658356" y="2320290"/>
            <a:chExt cx="4343629" cy="2503361"/>
          </a:xfrm>
        </p:grpSpPr>
        <p:sp>
          <p:nvSpPr>
            <p:cNvPr id="20" name="TextBox 20"/>
            <p:cNvSpPr txBox="1"/>
            <p:nvPr/>
          </p:nvSpPr>
          <p:spPr>
            <a:xfrm>
              <a:off x="6658356" y="2320290"/>
              <a:ext cx="385899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① 用机构真实财务口径重算全部金额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658356" y="2872740"/>
              <a:ext cx="321685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② 按月做 walk-forward 回测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658356" y="3425190"/>
              <a:ext cx="434362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③ 小流量放行或影子测试，标定被拒人群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658356" y="3977640"/>
              <a:ext cx="361668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④ 补齐可解释特征，满足合规要求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660642" y="4559618"/>
              <a:ext cx="34394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③ 的观测要靠放行才能拿到，只能小流量做</a:t>
              </a:r>
            </a:p>
          </p:txBody>
        </p:sp>
      </p:grpSp>
      <p:grpSp>
        <p:nvGrpSpPr>
          <p:cNvPr id="29" name="rollout-band"/>
          <p:cNvGrpSpPr/>
          <p:nvPr/>
        </p:nvGrpSpPr>
        <p:grpSpPr>
          <a:xfrm>
            <a:off x="685800" y="5124450"/>
            <a:ext cx="10820400" cy="819150"/>
            <a:chOff x="685800" y="5124450"/>
            <a:chExt cx="10820400" cy="819150"/>
          </a:xfrm>
        </p:grpSpPr>
        <p:sp>
          <p:nvSpPr>
            <p:cNvPr id="26" name="Rectangle 26"/>
            <p:cNvSpPr/>
            <p:nvPr/>
          </p:nvSpPr>
          <p:spPr>
            <a:xfrm>
              <a:off x="685800" y="5124450"/>
              <a:ext cx="10820400" cy="819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81456" y="5311140"/>
              <a:ext cx="678859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推进顺序：先按 0.55 把单一线跑起来，同时推进财务口径标定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83742" y="5645468"/>
              <a:ext cx="86643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口径与审批系统改造都到位后，再切到按期限的两条线；改造成本按每 100 亿元年放款额多 2,319 万元来比</a:t>
              </a:r>
            </a:p>
          </p:txBody>
        </p:sp>
      </p:grpSp>
      <p:grpSp>
        <p:nvGrpSpPr>
          <p:cNvPr id="32" name="page-footer"/>
          <p:cNvGrpSpPr/>
          <p:nvPr/>
        </p:nvGrpSpPr>
        <p:grpSpPr>
          <a:xfrm>
            <a:off x="678942" y="6045518"/>
            <a:ext cx="10834116" cy="264033"/>
            <a:chOff x="678942" y="6045518"/>
            <a:chExt cx="10834116" cy="264033"/>
          </a:xfrm>
        </p:grpSpPr>
        <p:sp>
          <p:nvSpPr>
            <p:cNvPr id="30" name="TextBox 30"/>
            <p:cNvSpPr txBox="1"/>
            <p:nvPr/>
          </p:nvSpPr>
          <p:spPr>
            <a:xfrm>
              <a:off x="678942" y="6045518"/>
              <a:ext cx="35666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来源：报告 12 节、9.6 节、10.2 节、11 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890523" y="60455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15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w4-deck">
  <a:themeElements>
    <a:clrScheme name="w4-deck">
      <a:dk1>
        <a:srgbClr val="CFCFCB"/>
      </a:dk1>
      <a:lt1>
        <a:srgbClr val="101215"/>
      </a:lt1>
      <a:dk2>
        <a:srgbClr val="1F497D"/>
      </a:dk2>
      <a:lt2>
        <a:srgbClr val="171A1E"/>
      </a:lt2>
      <a:accent1>
        <a:srgbClr val="F0F0EE"/>
      </a:accent1>
      <a:accent2>
        <a:srgbClr val="FF6A00"/>
      </a:accent2>
      <a:accent3>
        <a:srgbClr val="8E9095"/>
      </a:accent3>
      <a:accent4>
        <a:srgbClr val="F0F0EE"/>
      </a:accent4>
      <a:accent5>
        <a:srgbClr val="232A31"/>
      </a:accent5>
      <a:accent6>
        <a:srgbClr val="0F1012"/>
      </a:accent6>
      <a:hlink>
        <a:srgbClr val="FF6A00"/>
      </a:hlink>
      <a:folHlink>
        <a:srgbClr val="8E9095"/>
      </a:folHlink>
    </a:clrScheme>
    <a:fontScheme name="w4-deck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4-de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2026-09-25T07:52:12Z</dcterms:created>
  <dcterms:modified xsi:type="dcterms:W3CDTF">2026-09-25T07:52:12Z</dcterms:modified>
  <cp:category/>
  <cp:contentStatus/>
</cp:coreProperties>
</file>